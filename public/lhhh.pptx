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type="screen4x3" cy="6858000" cx="9144000"/>
  <p:notesSz cx="7315200" cy="96012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8015" autoAdjust="0"/>
    <p:restoredTop sz="88089" autoAdjust="0"/>
  </p:normalViewPr>
  <p:slideViewPr>
    <p:cSldViewPr showGuides="1" snapToGrid="0">
      <p:cViewPr>
        <p:scale>
          <a:sx n="69" d="100"/>
          <a:sy n="69" d="100"/>
        </p:scale>
        <p:origin x="1108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tableStyles" Target="tableStyles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8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Google Shape;3;n"/>
          <p:cNvSpPr>
            <a:spLocks noChangeAspect="1" noRot="1" noGrp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86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9" name="Google Shape;82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8" name="Google Shape;89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2" name="Google Shape;95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0" name="Google Shape;101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5" name="Google Shape;107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9" name="Google Shape;107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3" name="Google Shape;107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6" name="Google Shape;113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9" name="Google Shape;119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2" name="Google Shape;125;p8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6" name="Google Shape;131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0" name="Google Shape;131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4" name="Google Shape;131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47" name="Google Shape;137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1" name="Google Shape;143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5" name="Google Shape;143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9" name="Google Shape;143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2" name="Google Shape;149;p1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6" name="Google Shape;155;p1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0" name="Google Shape;155;p1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2" name="Google Shape;155;p1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Is phase </a:t>
            </a:r>
            <a:r>
              <a:rPr dirty="0" lang="en-US" err="1" smtClean="0"/>
              <a:t>mei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AD8232 sensor </a:t>
            </a:r>
            <a:r>
              <a:rPr dirty="0" lang="en-US" err="1" smtClean="0"/>
              <a:t>ko</a:t>
            </a:r>
            <a:r>
              <a:rPr dirty="0" lang="en-US" smtClean="0"/>
              <a:t> ESP32 </a:t>
            </a:r>
            <a:r>
              <a:rPr dirty="0" lang="en-US" err="1" smtClean="0"/>
              <a:t>ke</a:t>
            </a:r>
            <a:r>
              <a:rPr dirty="0" lang="en-US" smtClean="0"/>
              <a:t> </a:t>
            </a:r>
            <a:r>
              <a:rPr dirty="0" lang="en-US" err="1" smtClean="0"/>
              <a:t>sath</a:t>
            </a:r>
            <a:r>
              <a:rPr dirty="0" lang="en-US" smtClean="0"/>
              <a:t> connect </a:t>
            </a:r>
            <a:r>
              <a:rPr dirty="0" lang="en-US" err="1" smtClean="0"/>
              <a:t>kiya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AD8232 ECG signals capture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 </a:t>
            </a:r>
            <a:r>
              <a:rPr dirty="0" lang="en-US" err="1" smtClean="0"/>
              <a:t>aur</a:t>
            </a:r>
            <a:r>
              <a:rPr dirty="0" lang="en-US" smtClean="0"/>
              <a:t> ESP32 un signals </a:t>
            </a:r>
            <a:r>
              <a:rPr dirty="0" lang="en-US" err="1" smtClean="0"/>
              <a:t>ko</a:t>
            </a:r>
            <a:r>
              <a:rPr dirty="0" lang="en-US" smtClean="0"/>
              <a:t> cloud par send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Signal </a:t>
            </a:r>
            <a:r>
              <a:rPr dirty="0" lang="en-US" err="1" smtClean="0"/>
              <a:t>ko</a:t>
            </a:r>
            <a:r>
              <a:rPr dirty="0" lang="en-US" smtClean="0"/>
              <a:t> clean </a:t>
            </a:r>
            <a:r>
              <a:rPr dirty="0" lang="en-US" err="1" smtClean="0"/>
              <a:t>karne</a:t>
            </a:r>
            <a:r>
              <a:rPr dirty="0" lang="en-US" smtClean="0"/>
              <a:t> </a:t>
            </a:r>
            <a:r>
              <a:rPr dirty="0" lang="en-US" err="1" smtClean="0"/>
              <a:t>ke</a:t>
            </a:r>
            <a:r>
              <a:rPr dirty="0" lang="en-US" smtClean="0"/>
              <a:t> </a:t>
            </a:r>
            <a:r>
              <a:rPr dirty="0" lang="en-US" err="1" smtClean="0"/>
              <a:t>liye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EMA filter use </a:t>
            </a:r>
            <a:r>
              <a:rPr dirty="0" lang="en-US" err="1" smtClean="0"/>
              <a:t>kiya</a:t>
            </a:r>
            <a:r>
              <a:rPr dirty="0" lang="en-US" smtClean="0"/>
              <a:t>, </a:t>
            </a:r>
            <a:r>
              <a:rPr dirty="0" lang="en-US" err="1" smtClean="0"/>
              <a:t>jisse</a:t>
            </a:r>
            <a:r>
              <a:rPr dirty="0" lang="en-US" smtClean="0"/>
              <a:t> noise reduce </a:t>
            </a:r>
            <a:r>
              <a:rPr dirty="0" lang="en-US" err="1" smtClean="0"/>
              <a:t>hota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endParaRPr dirty="0"/>
          </a:p>
        </p:txBody>
      </p:sp>
      <p:sp>
        <p:nvSpPr>
          <p:cNvPr id="1048676" name="Google Shape;155;p1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Is phase </a:t>
            </a:r>
            <a:r>
              <a:rPr dirty="0" lang="en-US" err="1" smtClean="0"/>
              <a:t>mei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Firebase </a:t>
            </a:r>
            <a:r>
              <a:rPr dirty="0" lang="en-US" err="1" smtClean="0"/>
              <a:t>aur</a:t>
            </a:r>
            <a:r>
              <a:rPr dirty="0" lang="en-US" smtClean="0"/>
              <a:t> AWS Lambda use </a:t>
            </a:r>
            <a:r>
              <a:rPr dirty="0" lang="en-US" err="1" smtClean="0"/>
              <a:t>kiya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Firebase data </a:t>
            </a:r>
            <a:r>
              <a:rPr dirty="0" lang="en-US" err="1" smtClean="0"/>
              <a:t>ko</a:t>
            </a:r>
            <a:r>
              <a:rPr dirty="0" lang="en-US" smtClean="0"/>
              <a:t> store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 </a:t>
            </a:r>
            <a:r>
              <a:rPr dirty="0" lang="en-US" err="1" smtClean="0"/>
              <a:t>aur</a:t>
            </a:r>
            <a:r>
              <a:rPr dirty="0" lang="en-US" smtClean="0"/>
              <a:t> AWS Lambda AI model </a:t>
            </a:r>
            <a:r>
              <a:rPr dirty="0" lang="en-US" err="1" smtClean="0"/>
              <a:t>ko</a:t>
            </a:r>
            <a:r>
              <a:rPr dirty="0" lang="en-US" smtClean="0"/>
              <a:t> run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Jab ECG data </a:t>
            </a:r>
            <a:r>
              <a:rPr dirty="0" lang="en-US" err="1" smtClean="0"/>
              <a:t>aata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, Lambda </a:t>
            </a:r>
            <a:r>
              <a:rPr dirty="0" lang="en-US" err="1" smtClean="0"/>
              <a:t>usko</a:t>
            </a:r>
            <a:r>
              <a:rPr dirty="0" lang="en-US" smtClean="0"/>
              <a:t> process </a:t>
            </a:r>
            <a:r>
              <a:rPr dirty="0" lang="en-US" err="1" smtClean="0"/>
              <a:t>karke</a:t>
            </a:r>
            <a:r>
              <a:rPr dirty="0" lang="en-US" smtClean="0"/>
              <a:t> result generate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endParaRPr dirty="0"/>
          </a:p>
        </p:txBody>
      </p:sp>
      <p:sp>
        <p:nvSpPr>
          <p:cNvPr id="1048680" name="Google Shape;161;p1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Is slide </a:t>
            </a:r>
            <a:r>
              <a:rPr dirty="0" lang="en-US" err="1" smtClean="0"/>
              <a:t>mei</a:t>
            </a:r>
            <a:r>
              <a:rPr dirty="0" lang="en-US" smtClean="0"/>
              <a:t> </a:t>
            </a:r>
            <a:r>
              <a:rPr dirty="0" lang="en-US" err="1" smtClean="0"/>
              <a:t>humara</a:t>
            </a:r>
            <a:r>
              <a:rPr dirty="0" lang="en-US" smtClean="0"/>
              <a:t> AI model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Humne</a:t>
            </a:r>
            <a:r>
              <a:rPr dirty="0" lang="en-US" smtClean="0"/>
              <a:t> model </a:t>
            </a:r>
            <a:r>
              <a:rPr dirty="0" lang="en-US" err="1" smtClean="0"/>
              <a:t>ko</a:t>
            </a:r>
            <a:r>
              <a:rPr dirty="0" lang="en-US" smtClean="0"/>
              <a:t> cloud par deploy </a:t>
            </a:r>
            <a:r>
              <a:rPr dirty="0" lang="en-US" err="1" smtClean="0"/>
              <a:t>kiya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Yeh</a:t>
            </a:r>
            <a:r>
              <a:rPr dirty="0" lang="en-US" smtClean="0"/>
              <a:t> model ECG features </a:t>
            </a:r>
            <a:r>
              <a:rPr dirty="0" lang="en-US" err="1" smtClean="0"/>
              <a:t>ko</a:t>
            </a:r>
            <a:r>
              <a:rPr dirty="0" lang="en-US" smtClean="0"/>
              <a:t> analyze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 </a:t>
            </a:r>
            <a:r>
              <a:rPr dirty="0" lang="en-US" err="1" smtClean="0"/>
              <a:t>aur</a:t>
            </a:r>
            <a:r>
              <a:rPr dirty="0" lang="en-US" smtClean="0"/>
              <a:t> Potassium, Calcium </a:t>
            </a:r>
            <a:r>
              <a:rPr dirty="0" lang="en-US" err="1" smtClean="0"/>
              <a:t>aur</a:t>
            </a:r>
            <a:r>
              <a:rPr dirty="0" lang="en-US" smtClean="0"/>
              <a:t> Magnesium levels predict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endParaRPr dirty="0"/>
          </a:p>
        </p:txBody>
      </p:sp>
      <p:sp>
        <p:nvSpPr>
          <p:cNvPr id="1048683" name="Google Shape;161;p1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Is phase </a:t>
            </a:r>
            <a:r>
              <a:rPr dirty="0" lang="en-US" err="1" smtClean="0"/>
              <a:t>mei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React Native app develop </a:t>
            </a:r>
            <a:r>
              <a:rPr dirty="0" lang="en-US" err="1" smtClean="0"/>
              <a:t>ki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App Firebase se real-time results fetch </a:t>
            </a:r>
            <a:r>
              <a:rPr dirty="0" lang="en-US" err="1" smtClean="0"/>
              <a:t>karti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User app </a:t>
            </a:r>
            <a:r>
              <a:rPr dirty="0" lang="en-US" err="1" smtClean="0"/>
              <a:t>mei</a:t>
            </a:r>
            <a:r>
              <a:rPr dirty="0" lang="en-US" smtClean="0"/>
              <a:t> ECG graph, results </a:t>
            </a:r>
            <a:r>
              <a:rPr dirty="0" lang="en-US" err="1" smtClean="0"/>
              <a:t>aur</a:t>
            </a:r>
            <a:r>
              <a:rPr dirty="0" lang="en-US" smtClean="0"/>
              <a:t> history easily </a:t>
            </a:r>
            <a:r>
              <a:rPr dirty="0" lang="en-US" err="1" smtClean="0"/>
              <a:t>dekh</a:t>
            </a:r>
            <a:r>
              <a:rPr dirty="0" lang="en-US" smtClean="0"/>
              <a:t> </a:t>
            </a:r>
            <a:r>
              <a:rPr dirty="0" lang="en-US" err="1" smtClean="0"/>
              <a:t>sakta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endParaRPr dirty="0"/>
          </a:p>
        </p:txBody>
      </p:sp>
      <p:sp>
        <p:nvSpPr>
          <p:cNvPr id="1048687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Is slide </a:t>
            </a:r>
            <a:r>
              <a:rPr dirty="0" lang="en-US" err="1" smtClean="0"/>
              <a:t>mei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hardware testing </a:t>
            </a:r>
            <a:r>
              <a:rPr dirty="0" lang="en-US" err="1" smtClean="0"/>
              <a:t>batayi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Humne</a:t>
            </a:r>
            <a:r>
              <a:rPr dirty="0" lang="en-US" smtClean="0"/>
              <a:t> check </a:t>
            </a:r>
            <a:r>
              <a:rPr dirty="0" lang="en-US" err="1" smtClean="0"/>
              <a:t>kiya</a:t>
            </a:r>
            <a:r>
              <a:rPr dirty="0" lang="en-US" smtClean="0"/>
              <a:t> </a:t>
            </a:r>
            <a:r>
              <a:rPr dirty="0" lang="en-US" err="1" smtClean="0"/>
              <a:t>ke</a:t>
            </a:r>
            <a:r>
              <a:rPr dirty="0" lang="en-US" smtClean="0"/>
              <a:t> sensor accurate ECG signals de </a:t>
            </a:r>
            <a:r>
              <a:rPr dirty="0" lang="en-US" err="1" smtClean="0"/>
              <a:t>raha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 </a:t>
            </a:r>
            <a:r>
              <a:rPr dirty="0" lang="en-US" err="1" smtClean="0"/>
              <a:t>ya</a:t>
            </a:r>
            <a:r>
              <a:rPr dirty="0" lang="en-US" smtClean="0"/>
              <a:t> </a:t>
            </a:r>
            <a:r>
              <a:rPr dirty="0" lang="en-US" err="1" smtClean="0"/>
              <a:t>nahi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Aur</a:t>
            </a:r>
            <a:r>
              <a:rPr dirty="0" lang="en-US" smtClean="0"/>
              <a:t> noise reduce </a:t>
            </a:r>
            <a:r>
              <a:rPr dirty="0" lang="en-US" err="1" smtClean="0"/>
              <a:t>karne</a:t>
            </a:r>
            <a:r>
              <a:rPr dirty="0" lang="en-US" smtClean="0"/>
              <a:t> </a:t>
            </a:r>
            <a:r>
              <a:rPr dirty="0" lang="en-US" err="1" smtClean="0"/>
              <a:t>ke</a:t>
            </a:r>
            <a:r>
              <a:rPr dirty="0" lang="en-US" smtClean="0"/>
              <a:t> </a:t>
            </a:r>
            <a:r>
              <a:rPr dirty="0" lang="en-US" err="1" smtClean="0"/>
              <a:t>liye</a:t>
            </a:r>
            <a:r>
              <a:rPr dirty="0" lang="en-US" smtClean="0"/>
              <a:t> filter </a:t>
            </a:r>
            <a:r>
              <a:rPr dirty="0" lang="en-US" err="1" smtClean="0"/>
              <a:t>ki</a:t>
            </a:r>
            <a:r>
              <a:rPr dirty="0" lang="en-US" smtClean="0"/>
              <a:t> performance test </a:t>
            </a:r>
            <a:r>
              <a:rPr dirty="0" lang="en-US" err="1" smtClean="0"/>
              <a:t>ki</a:t>
            </a:r>
            <a:endParaRPr dirty="0"/>
          </a:p>
        </p:txBody>
      </p:sp>
      <p:sp>
        <p:nvSpPr>
          <p:cNvPr id="1048691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err="1" smtClean="0"/>
              <a:t>Yahan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system </a:t>
            </a:r>
            <a:r>
              <a:rPr dirty="0" lang="en-US" err="1" smtClean="0"/>
              <a:t>ka</a:t>
            </a:r>
            <a:r>
              <a:rPr dirty="0" lang="en-US" smtClean="0"/>
              <a:t> response time measure </a:t>
            </a:r>
            <a:r>
              <a:rPr dirty="0" lang="en-US" err="1" smtClean="0"/>
              <a:t>kiya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Sensor se app </a:t>
            </a:r>
            <a:r>
              <a:rPr dirty="0" lang="en-US" err="1" smtClean="0"/>
              <a:t>tak</a:t>
            </a:r>
            <a:r>
              <a:rPr dirty="0" lang="en-US" smtClean="0"/>
              <a:t> result </a:t>
            </a:r>
            <a:r>
              <a:rPr dirty="0" lang="en-US" err="1" smtClean="0"/>
              <a:t>aane</a:t>
            </a:r>
            <a:r>
              <a:rPr dirty="0" lang="en-US" smtClean="0"/>
              <a:t> </a:t>
            </a:r>
            <a:r>
              <a:rPr dirty="0" lang="en-US" err="1" smtClean="0"/>
              <a:t>mei</a:t>
            </a:r>
            <a:r>
              <a:rPr dirty="0" lang="en-US" smtClean="0"/>
              <a:t> average 12 se 15 seconds </a:t>
            </a:r>
            <a:r>
              <a:rPr dirty="0" lang="en-US" err="1" smtClean="0"/>
              <a:t>lagay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Iska</a:t>
            </a:r>
            <a:r>
              <a:rPr dirty="0" lang="en-US" smtClean="0"/>
              <a:t> </a:t>
            </a:r>
            <a:r>
              <a:rPr dirty="0" lang="en-US" err="1" smtClean="0"/>
              <a:t>matlab</a:t>
            </a:r>
            <a:r>
              <a:rPr dirty="0" lang="en-US" smtClean="0"/>
              <a:t> system near real-time work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endParaRPr dirty="0"/>
          </a:p>
        </p:txBody>
      </p:sp>
      <p:sp>
        <p:nvSpPr>
          <p:cNvPr id="1048695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“Is slide </a:t>
            </a:r>
            <a:r>
              <a:rPr dirty="0" lang="en-US" err="1" smtClean="0"/>
              <a:t>mei</a:t>
            </a:r>
            <a:r>
              <a:rPr dirty="0" lang="en-US" smtClean="0"/>
              <a:t> </a:t>
            </a:r>
            <a:r>
              <a:rPr dirty="0" lang="en-US" err="1" smtClean="0"/>
              <a:t>humne</a:t>
            </a:r>
            <a:r>
              <a:rPr dirty="0" lang="en-US" smtClean="0"/>
              <a:t> app testing </a:t>
            </a:r>
            <a:r>
              <a:rPr dirty="0" lang="en-US" err="1" smtClean="0"/>
              <a:t>ki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Humne</a:t>
            </a:r>
            <a:r>
              <a:rPr dirty="0" lang="en-US" smtClean="0"/>
              <a:t> login system, real-time data fetching </a:t>
            </a:r>
            <a:r>
              <a:rPr dirty="0" lang="en-US" err="1" smtClean="0"/>
              <a:t>aur</a:t>
            </a:r>
            <a:r>
              <a:rPr dirty="0" lang="en-US" smtClean="0"/>
              <a:t> app navigation test </a:t>
            </a:r>
            <a:r>
              <a:rPr dirty="0" lang="en-US" err="1" smtClean="0"/>
              <a:t>ki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Firebase </a:t>
            </a:r>
            <a:r>
              <a:rPr dirty="0" lang="en-US" err="1" smtClean="0"/>
              <a:t>aur</a:t>
            </a:r>
            <a:r>
              <a:rPr dirty="0" lang="en-US" smtClean="0"/>
              <a:t> AWS </a:t>
            </a:r>
            <a:r>
              <a:rPr dirty="0" lang="en-US" err="1" smtClean="0"/>
              <a:t>ke</a:t>
            </a:r>
            <a:r>
              <a:rPr dirty="0" lang="en-US" smtClean="0"/>
              <a:t> connection </a:t>
            </a:r>
            <a:r>
              <a:rPr dirty="0" lang="en-US" err="1" smtClean="0"/>
              <a:t>ko</a:t>
            </a:r>
            <a:r>
              <a:rPr dirty="0" lang="en-US" smtClean="0"/>
              <a:t> </a:t>
            </a:r>
            <a:r>
              <a:rPr dirty="0" lang="en-US" err="1" smtClean="0"/>
              <a:t>bhi</a:t>
            </a:r>
            <a:r>
              <a:rPr dirty="0" lang="en-US" smtClean="0"/>
              <a:t> verify </a:t>
            </a:r>
            <a:r>
              <a:rPr dirty="0" lang="en-US" err="1" smtClean="0"/>
              <a:t>kiya</a:t>
            </a:r>
            <a:r>
              <a:rPr dirty="0" lang="en-US" smtClean="0"/>
              <a:t>.</a:t>
            </a:r>
            <a:endParaRPr dirty="0"/>
          </a:p>
        </p:txBody>
      </p:sp>
      <p:sp>
        <p:nvSpPr>
          <p:cNvPr id="1048699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“</a:t>
            </a:r>
            <a:r>
              <a:rPr dirty="0" lang="en-US" err="1" smtClean="0"/>
              <a:t>Humne</a:t>
            </a:r>
            <a:r>
              <a:rPr dirty="0" lang="en-US" smtClean="0"/>
              <a:t> successfully </a:t>
            </a:r>
            <a:r>
              <a:rPr dirty="0" lang="en-US" err="1" smtClean="0"/>
              <a:t>aik</a:t>
            </a:r>
            <a:r>
              <a:rPr dirty="0" lang="en-US" smtClean="0"/>
              <a:t> non-invasive system develop </a:t>
            </a:r>
            <a:r>
              <a:rPr dirty="0" lang="en-US" err="1" smtClean="0"/>
              <a:t>kiya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Yeh</a:t>
            </a:r>
            <a:r>
              <a:rPr dirty="0" lang="en-US" smtClean="0"/>
              <a:t> system ECG signals se electrolyte levels predict </a:t>
            </a:r>
            <a:r>
              <a:rPr dirty="0" lang="en-US" err="1" smtClean="0"/>
              <a:t>karta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smtClean="0"/>
              <a:t>System ne 81% accuracy achieve </a:t>
            </a:r>
            <a:r>
              <a:rPr dirty="0" lang="en-US" err="1" smtClean="0"/>
              <a:t>ki</a:t>
            </a:r>
            <a:r>
              <a:rPr dirty="0" lang="en-US" smtClean="0"/>
              <a:t>.</a:t>
            </a:r>
            <a:br>
              <a:rPr dirty="0" lang="en-US" smtClean="0"/>
            </a:br>
            <a:r>
              <a:rPr dirty="0" lang="en-US" err="1" smtClean="0"/>
              <a:t>Iska</a:t>
            </a:r>
            <a:r>
              <a:rPr dirty="0" lang="en-US" smtClean="0"/>
              <a:t> major benefit </a:t>
            </a:r>
            <a:r>
              <a:rPr dirty="0" lang="en-US" err="1" smtClean="0"/>
              <a:t>yeh</a:t>
            </a:r>
            <a:r>
              <a:rPr dirty="0" lang="en-US" smtClean="0"/>
              <a:t> </a:t>
            </a:r>
            <a:r>
              <a:rPr dirty="0" lang="en-US" err="1" smtClean="0"/>
              <a:t>hai</a:t>
            </a:r>
            <a:r>
              <a:rPr dirty="0" lang="en-US" smtClean="0"/>
              <a:t> </a:t>
            </a:r>
            <a:r>
              <a:rPr dirty="0" lang="en-US" err="1" smtClean="0"/>
              <a:t>ke</a:t>
            </a:r>
            <a:r>
              <a:rPr dirty="0" lang="en-US" smtClean="0"/>
              <a:t> blood test </a:t>
            </a:r>
            <a:r>
              <a:rPr dirty="0" lang="en-US" err="1" smtClean="0"/>
              <a:t>ke</a:t>
            </a:r>
            <a:r>
              <a:rPr dirty="0" lang="en-US" smtClean="0"/>
              <a:t> </a:t>
            </a:r>
            <a:r>
              <a:rPr dirty="0" lang="en-US" err="1" smtClean="0"/>
              <a:t>baghair</a:t>
            </a:r>
            <a:r>
              <a:rPr dirty="0" lang="en-US" smtClean="0"/>
              <a:t> fast results mil </a:t>
            </a:r>
            <a:r>
              <a:rPr dirty="0" lang="en-US" err="1" smtClean="0"/>
              <a:t>sakte</a:t>
            </a:r>
            <a:r>
              <a:rPr dirty="0" lang="en-US" smtClean="0"/>
              <a:t> </a:t>
            </a:r>
            <a:r>
              <a:rPr dirty="0" lang="en-US" err="1" smtClean="0"/>
              <a:t>hain</a:t>
            </a:r>
            <a:r>
              <a:rPr dirty="0" lang="en-US" smtClean="0"/>
              <a:t>.</a:t>
            </a:r>
            <a:endParaRPr dirty="0"/>
          </a:p>
        </p:txBody>
      </p:sp>
      <p:sp>
        <p:nvSpPr>
          <p:cNvPr id="1048702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Humne AD8232 sensor ko ESP32 ke sath connect kiya.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AD8232 heart ki ECG signal leta hai aur ESP32 us signal ko aage cloud par send karta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Signal ko clean karne ke liye humne EMA filter use kiya.</a:t>
            </a:r>
          </a:p>
        </p:txBody>
      </p:sp>
      <p:sp>
        <p:nvSpPr>
          <p:cNvPr id="1048706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“Is phase mei humne Firebase aur AWS Lambda use kiya.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Firebase data store karta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AWS Lambda AI model ko run karta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Jab ECG data aata hai, Lambda us data ko check karke result generate karta hai.”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altLang="en-US" lang="en-US"/>
          </a:p>
        </p:txBody>
      </p:sp>
      <p:sp>
        <p:nvSpPr>
          <p:cNvPr id="1048710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“Is slide mei humara AI model explain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Humne model ko cloud par deploy kiya.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Model ECG features ko read karta hai aur Potassium, Calcium aur Magnesium level predict karta hai.”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altLang="en-US" lang="en-US"/>
          </a:p>
        </p:txBody>
      </p:sp>
      <p:sp>
        <p:nvSpPr>
          <p:cNvPr id="1048714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“Is phase mei humne React Native app banai.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App Firebase se real-time result leti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User app mei ECG graph, result aur history dekh sakta hai.”</a:t>
            </a:r>
          </a:p>
        </p:txBody>
      </p:sp>
      <p:sp>
        <p:nvSpPr>
          <p:cNvPr id="1048718" name="Google Shape;167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“Is slide mei humne hardware testing batayi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Humne check kiya ke sensor proper ECG signal de raha hai ya nahi.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Noise ko kam karne ke liye filter test kiya.”</a:t>
            </a:r>
          </a:p>
        </p:txBody>
      </p:sp>
      <p:sp>
        <p:nvSpPr>
          <p:cNvPr id="1048722" name="Google Shape;173;p1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“Yahan humne system ka response time check kiya.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Sensor se app tak result aane mei average 12 se 15 seconds lage.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Is ka matlab system near real-time work karta hai.”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altLang="en-US" lang="en-US"/>
          </a:p>
        </p:txBody>
      </p:sp>
      <p:sp>
        <p:nvSpPr>
          <p:cNvPr id="1048726" name="Google Shape;173;p1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3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“Is slide mei app testing batayi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Humne login, real-time data fetching aur app navigation test ki.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Firebase aur AWS ke connection ko bhi verify kiya</a:t>
            </a:r>
          </a:p>
        </p:txBody>
      </p:sp>
      <p:sp>
        <p:nvSpPr>
          <p:cNvPr id="1048730" name="Google Shape;173;p1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33" name="Google Shape;179;p17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“Humne successfully aik non-invasive system develop kiya.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Yeh system ECG signal se electrolyte levels predict karta hai.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System ne 81% accuracy achieve ki.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Iska benefit yeh hai ke blood test ki need kam ho sakti hai aur result jaldi milta hai.”</a:t>
            </a:r>
          </a:p>
        </p:txBody>
      </p:sp>
      <p:sp>
        <p:nvSpPr>
          <p:cNvPr id="1048737" name="Google Shape;185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Future mei hum model ki accuracy improve karna chahte hain.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Hum larger clinical dataset use karenge.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Emergency SMS ya call alert add karenge.</a:t>
            </a: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US" lang="en-US"/>
              <a:t>Aur better medical-grade sensors use karenge.”</a:t>
            </a:r>
          </a:p>
        </p:txBody>
      </p:sp>
      <p:sp>
        <p:nvSpPr>
          <p:cNvPr id="1048741" name="Google Shape;185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24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ctr" lv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 lvl="1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 lvl="2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 lvl="3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 lvl="4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 lvl="5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 lvl="6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 lvl="7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 lvl="8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583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5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1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592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3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4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64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1" cap="none" sz="4000"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4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algn="l" indent="-228600" lvl="1" marL="91440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05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6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7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77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3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764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765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6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7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78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9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770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771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772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773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4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5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73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3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4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5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79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7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8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80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80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31800" lvl="0" marL="4572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algn="l" indent="-381000" lvl="2" marL="1371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algn="l" indent="-35560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algn="l" indent="-355600" lvl="5" marL="27432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781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782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83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84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75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2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/>
          <a:noFill/>
          <a:ln>
            <a:noFill/>
          </a:ln>
        </p:spPr>
      </p:sp>
      <p:sp>
        <p:nvSpPr>
          <p:cNvPr id="1048753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754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5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6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76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8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759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0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1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ctr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ctr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ctr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ctr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ctr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ctr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ctr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ctr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7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748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9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0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2"/>
          <a:stretch>
            <a:fillRect/>
          </a:stretch>
        </a:blipFill>
        <a:effectLst/>
      </p:bgPr>
    </p:bg>
    <p:spTree>
      <p:nvGrpSpPr>
        <p:cNvPr id="12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ctr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ctr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ctr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ctr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ctr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ctr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ctr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ctr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431800" lvl="0" marL="457200" marR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b="0" cap="none" sz="3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indent="-406400" lvl="1" marL="914400" marR="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b="0" cap="none" sz="2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indent="-381000" lvl="2" marL="1371600" marR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b="0" cap="none" sz="2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indent="-355600" lvl="3" marL="1828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indent="-355600" lvl="4" marL="22860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indent="-355600" lvl="5" marL="27432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indent="-355600" lvl="6" marL="32004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indent="-355600" lvl="7" marL="36576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indent="-355600" lvl="8" marL="4114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57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58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algn="r" indent="0" lvl="1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algn="r" indent="0" lvl="2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algn="r" indent="0" lvl="3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algn="r" indent="0" lvl="4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algn="r" indent="0" lvl="5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algn="r" indent="0" lvl="6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algn="r" indent="0" lvl="7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algn="r" indent="0" lvl="8" marL="0" marR="0" rtl="0">
              <a:spcBef>
                <a:spcPts val="0"/>
              </a:spcBef>
              <a:spcAft>
                <a:spcPts val="0"/>
              </a:spcAft>
              <a:buNone/>
              <a:defRPr b="0" cap="none" sz="1200" i="0" strike="noStrike" u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25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Final Year Project</a:t>
            </a:r>
            <a:endParaRPr dirty="0"/>
          </a:p>
        </p:txBody>
      </p:sp>
      <p:sp>
        <p:nvSpPr>
          <p:cNvPr id="1048587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lnSpcReduction="10000"/>
          </a:bodyPr>
          <a:p>
            <a:pPr algn="ctr" indent="0" lvl="0" marL="635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</a:pPr>
            <a:r>
              <a:rPr dirty="0" lang="en-US" err="1" smtClean="0"/>
              <a:t>Trilyte</a:t>
            </a:r>
            <a:r>
              <a:rPr dirty="0" lang="en-US" smtClean="0"/>
              <a:t>: Real-Time Electrolytes Imbalance detection using ECG Signals</a:t>
            </a:r>
            <a:endParaRPr dirty="0" smtClean="0"/>
          </a:p>
          <a:p>
            <a:pPr algn="ctr" indent="0" lvl="0" marL="63500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</a:pPr>
            <a:r>
              <a:rPr dirty="0" sz="1400" lang="en-US" smtClean="0"/>
              <a:t>Supervised </a:t>
            </a:r>
            <a:r>
              <a:rPr dirty="0" sz="1400" lang="en-US"/>
              <a:t>By: </a:t>
            </a:r>
            <a:r>
              <a:rPr dirty="0" sz="1400" lang="en-US" smtClean="0"/>
              <a:t>Miss.  </a:t>
            </a:r>
            <a:r>
              <a:rPr dirty="0" sz="1400" lang="en-US" err="1" smtClean="0"/>
              <a:t>Nayab</a:t>
            </a:r>
            <a:r>
              <a:rPr dirty="0" sz="1400" lang="en-US" smtClean="0"/>
              <a:t> Khalid</a:t>
            </a:r>
            <a:endParaRPr dirty="0"/>
          </a:p>
        </p:txBody>
      </p:sp>
      <p:pic>
        <p:nvPicPr>
          <p:cNvPr id="2097152" name="Google Shape;86;p1" descr="Riphah.jp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/>
          <a:srcRect l="3033" t="4065" r="6926" b="4925"/>
          <a:stretch>
            <a:fillRect/>
          </a:stretch>
        </p:blipFill>
        <p:spPr>
          <a:xfrm>
            <a:off x="4076700" y="1295400"/>
            <a:ext cx="990600" cy="12954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</a:p>
        </p:txBody>
      </p:sp>
      <p:sp>
        <p:nvSpPr>
          <p:cNvPr id="1048596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-342900" lvl="0" marL="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dirty="0" lang="en-US" smtClean="0"/>
              <a:t>Hajira Imran (44594)</a:t>
            </a:r>
            <a:endParaRPr dirty="0"/>
          </a:p>
          <a:p>
            <a:pPr algn="l" indent="-342900" lvl="0" marL="3429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dirty="0" lang="en-US" err="1" smtClean="0"/>
              <a:t>Maryum</a:t>
            </a:r>
            <a:r>
              <a:rPr dirty="0" lang="en-US" smtClean="0"/>
              <a:t> Malik (45369)</a:t>
            </a:r>
            <a:endParaRPr dirty="0"/>
          </a:p>
          <a:p>
            <a:pPr algn="l" indent="-342900" lvl="0" marL="3429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dirty="0" lang="en-US" err="1" smtClean="0"/>
              <a:t>Aneeza</a:t>
            </a:r>
            <a:r>
              <a:rPr dirty="0" lang="en-US" smtClean="0"/>
              <a:t> </a:t>
            </a:r>
            <a:r>
              <a:rPr dirty="0" lang="en-US" err="1" smtClean="0"/>
              <a:t>Sherani</a:t>
            </a:r>
            <a:r>
              <a:rPr dirty="0" lang="en-US" smtClean="0"/>
              <a:t> (47436)</a:t>
            </a:r>
            <a:endParaRPr dirty="0"/>
          </a:p>
          <a:p>
            <a:pPr algn="l" indent="-139700" lvl="0" marL="3429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</a:p>
        </p:txBody>
      </p:sp>
      <p:sp>
        <p:nvSpPr>
          <p:cNvPr id="1048600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-342900" lvl="0" marL="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dirty="0" sz="2400" lang="en-US"/>
              <a:t>Background and Introduction</a:t>
            </a:r>
            <a:endParaRPr dirty="0"/>
          </a:p>
          <a:p>
            <a:pPr algn="l" indent="-342900" lvl="0" marL="3429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dirty="0" sz="2400" lang="en-US"/>
              <a:t>Literature Review</a:t>
            </a:r>
            <a:endParaRPr dirty="0"/>
          </a:p>
          <a:p>
            <a:pPr algn="l" indent="-342900" lvl="0" marL="3429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dirty="0" sz="2400" lang="en-US"/>
              <a:t>Problem Statement</a:t>
            </a:r>
            <a:endParaRPr dirty="0" lang="en-US"/>
          </a:p>
          <a:p>
            <a:pPr algn="l" indent="-342900" lvl="0" marL="3429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dirty="0" sz="2400" lang="en-US"/>
              <a:t>Project Scope</a:t>
            </a:r>
            <a:endParaRPr dirty="0"/>
          </a:p>
          <a:p>
            <a:pPr algn="l" indent="-342900" lvl="0" marL="3429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dirty="0" sz="2400" lang="en-US"/>
              <a:t>Proposed Solution</a:t>
            </a:r>
            <a:endParaRPr dirty="0"/>
          </a:p>
          <a:p>
            <a:pPr algn="l" indent="-285750" lvl="1" marL="7429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dirty="0" sz="2000" lang="en-US"/>
              <a:t>Requirements Summary</a:t>
            </a:r>
            <a:endParaRPr dirty="0"/>
          </a:p>
          <a:p>
            <a:pPr algn="l" indent="-285750" lvl="1" marL="7429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dirty="0" sz="2000" lang="en-US"/>
              <a:t>Design Summary</a:t>
            </a:r>
            <a:endParaRPr dirty="0"/>
          </a:p>
          <a:p>
            <a:pPr algn="l" indent="-285750" lvl="1" marL="7429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dirty="0" sz="2000" lang="en-US"/>
              <a:t>Implementation Summary</a:t>
            </a:r>
            <a:endParaRPr dirty="0"/>
          </a:p>
          <a:p>
            <a:pPr algn="l" indent="-285750" lvl="1" marL="7429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dirty="0" sz="2000" lang="en-US"/>
              <a:t>Testing &amp; Evaluation Summary</a:t>
            </a:r>
            <a:endParaRPr dirty="0"/>
          </a:p>
          <a:p>
            <a:pPr algn="l" indent="-342900" lvl="0" marL="3429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dirty="0" sz="2400" lang="en-US"/>
              <a:t>Conclusion and Outlook</a:t>
            </a:r>
            <a:endParaRPr dirty="0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BACKGROUND AND INTRODUCTION</a:t>
            </a:r>
            <a:endParaRPr dirty="0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109;p5"/>
          <p:cNvSpPr txBox="1">
            <a:spLocks noGrp="1"/>
          </p:cNvSpPr>
          <p:nvPr>
            <p:ph type="title"/>
          </p:nvPr>
        </p:nvSpPr>
        <p:spPr>
          <a:xfrm>
            <a:off x="326390" y="313690"/>
            <a:ext cx="8229600" cy="104394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 </a:t>
            </a:r>
            <a:r>
              <a:rPr dirty="0" lang="en-US"/>
              <a:t>Introduction</a:t>
            </a:r>
            <a:endParaRPr dirty="0"/>
          </a:p>
        </p:txBody>
      </p:sp>
      <p:sp>
        <p:nvSpPr>
          <p:cNvPr id="1048612" name="Google Shape;110;p5"/>
          <p:cNvSpPr txBox="1">
            <a:spLocks noGrp="1"/>
          </p:cNvSpPr>
          <p:nvPr>
            <p:ph type="body" idx="1"/>
          </p:nvPr>
        </p:nvSpPr>
        <p:spPr>
          <a:xfrm>
            <a:off x="217805" y="1165860"/>
            <a:ext cx="5597525" cy="452628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203200">
              <a:spcBef>
                <a:spcPts val="0"/>
              </a:spcBef>
              <a:buSzPts val="3200"/>
              <a:buNone/>
            </a:pPr>
            <a:r>
              <a:rPr b="1" dirty="0" lang="en-US" smtClean="0"/>
              <a:t>About </a:t>
            </a:r>
            <a:r>
              <a:rPr b="1" dirty="0" lang="en-US" err="1" smtClean="0"/>
              <a:t>Trilyte</a:t>
            </a:r>
            <a:r>
              <a:rPr b="1" dirty="0" lang="en-US"/>
              <a:t>?</a:t>
            </a:r>
            <a:r>
              <a:rPr dirty="0" lang="en-US"/>
              <a:t> </a:t>
            </a:r>
            <a:endParaRPr dirty="0" lang="en-US" smtClean="0"/>
          </a:p>
          <a:p>
            <a:pPr algn="l" indent="0" marL="203200">
              <a:spcBef>
                <a:spcPts val="0"/>
              </a:spcBef>
              <a:buSzPts val="3200"/>
              <a:buNone/>
            </a:pPr>
            <a:r>
              <a:rPr altLang="en-US" dirty="0" sz="2800" lang="en-US"/>
              <a:t>Trilyte is an AI-based</a:t>
            </a:r>
            <a:r>
              <a:rPr altLang="en-US" b="1" dirty="0" sz="2800" i="1" lang="en-US"/>
              <a:t> </a:t>
            </a:r>
            <a:r>
              <a:rPr altLang="en-US" b="1" dirty="0" sz="2800" lang="en-US"/>
              <a:t>IoT healthcare system </a:t>
            </a:r>
            <a:r>
              <a:rPr altLang="en-US" dirty="0" sz="2800" lang="en-US"/>
              <a:t>designed for real-time monitoring and prediction of electrolyte levels (Potassium, Calcium, and Magnesium) using ECG signal features. The system leverages machine learning to analyze cardiac electrical activity and infer possible electrolyte imbalances.</a:t>
            </a:r>
          </a:p>
        </p:txBody>
      </p:sp>
      <p:sp>
        <p:nvSpPr>
          <p:cNvPr id="1048613" name="Rectangle 1"/>
          <p:cNvSpPr/>
          <p:nvPr/>
        </p:nvSpPr>
        <p:spPr>
          <a:xfrm>
            <a:off x="6053455" y="1070610"/>
            <a:ext cx="2396490" cy="5382260"/>
          </a:xfrm>
          <a:prstGeom prst="rect"/>
          <a:blipFill rotWithShape="1" dpi="0">
            <a:blip xmlns:r="http://schemas.openxmlformats.org/officeDocument/2006/relationships"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09;p5"/>
          <p:cNvSpPr txBox="1">
            <a:spLocks noGrp="1"/>
          </p:cNvSpPr>
          <p:nvPr>
            <p:ph type="title"/>
          </p:nvPr>
        </p:nvSpPr>
        <p:spPr>
          <a:xfrm>
            <a:off x="483325" y="170135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lvl="0"/>
            <a:r>
              <a:rPr dirty="0" lang="en-US" smtClean="0"/>
              <a:t>Background</a:t>
            </a:r>
            <a:endParaRPr dirty="0"/>
          </a:p>
        </p:txBody>
      </p:sp>
      <p:sp>
        <p:nvSpPr>
          <p:cNvPr id="1048617" name="Google Shape;110;p5"/>
          <p:cNvSpPr txBox="1">
            <a:spLocks noGrp="1"/>
          </p:cNvSpPr>
          <p:nvPr>
            <p:ph type="body" idx="1"/>
          </p:nvPr>
        </p:nvSpPr>
        <p:spPr>
          <a:xfrm>
            <a:off x="300445" y="1411923"/>
            <a:ext cx="859536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ECG is a non-invasive method to record the heart’s electrical activity.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It represents heart signals as a waveform over time.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A normal ECG consists of P, Q, R, S, and T waves (PQRST complex).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Each heartbeat includes one full cycle: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P wave → atrial contraction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QRS complex → ventricular contraction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sz="2800" lang="en-US"/>
              <a:t>T wave → recovery phase</a:t>
            </a:r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lvl="0"/>
            <a:r>
              <a:rPr dirty="0" lang="en-US" smtClean="0"/>
              <a:t>Background</a:t>
            </a:r>
            <a:endParaRPr dirty="0"/>
          </a:p>
        </p:txBody>
      </p:sp>
      <p:sp>
        <p:nvSpPr>
          <p:cNvPr id="1048621" name="Google Shape;110;p5"/>
          <p:cNvSpPr txBox="1">
            <a:spLocks noGrp="1"/>
          </p:cNvSpPr>
          <p:nvPr>
            <p:ph type="body" idx="1"/>
          </p:nvPr>
        </p:nvSpPr>
        <p:spPr>
          <a:xfrm>
            <a:off x="360218" y="1380549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marL="546100">
              <a:spcBef>
                <a:spcPts val="0"/>
              </a:spcBef>
              <a:buSzPts val="3200"/>
            </a:pPr>
            <a:endParaRPr altLang="en-US" dirty="0" lang="en-US"/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lang="en-US"/>
              <a:t>Electrolytes (K, Ca, Mg) regulate heart electrical activity.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lang="en-US"/>
              <a:t>Imbalance causes changes in ECG patterns (waves, intervals, rhythm).</a:t>
            </a:r>
          </a:p>
          <a:p>
            <a:pPr marL="546100">
              <a:spcBef>
                <a:spcPts val="0"/>
              </a:spcBef>
              <a:buSzPts val="3200"/>
            </a:pPr>
            <a:r>
              <a:rPr altLang="en-US" dirty="0" lang="en-US"/>
              <a:t>These changes can be analyzed using AI to predict electrolyte levels.</a:t>
            </a: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Literature Review</a:t>
            </a:r>
            <a:endParaRPr dirty="0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</a:p>
        </p:txBody>
      </p:sp>
      <p:graphicFrame>
        <p:nvGraphicFramePr>
          <p:cNvPr id="4194304" name="Table 1"/>
          <p:cNvGraphicFramePr>
            <a:graphicFrameLocks noGrp="1"/>
          </p:cNvGraphicFramePr>
          <p:nvPr/>
        </p:nvGraphicFramePr>
        <p:xfrm>
          <a:off x="1097280" y="1678894"/>
          <a:ext cx="7210697" cy="36195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3299"/>
                <a:gridCol w="2403299"/>
                <a:gridCol w="2404099"/>
              </a:tblGrid>
              <a:tr h="1051244"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600" lang="en-US">
                          <a:solidFill>
                            <a:schemeClr val="tx1"/>
                          </a:solidFill>
                          <a:effectLst/>
                        </a:rPr>
                        <a:t>Feature/Area</a:t>
                      </a:r>
                      <a:endParaRPr dirty="0" sz="18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600" lang="en-US">
                          <a:solidFill>
                            <a:schemeClr val="tx1"/>
                          </a:solidFill>
                          <a:effectLst/>
                        </a:rPr>
                        <a:t>Existing Apps</a:t>
                      </a:r>
                      <a:endParaRPr dirty="0" sz="1800" lang="en-US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600" lang="en-US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dirty="0" sz="1600" lang="en-US" err="1">
                          <a:solidFill>
                            <a:schemeClr val="tx1"/>
                          </a:solidFill>
                          <a:effectLst/>
                        </a:rPr>
                        <a:t>Kardia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dirty="0" sz="1600" lang="en-US" err="1">
                          <a:solidFill>
                            <a:schemeClr val="tx1"/>
                          </a:solidFill>
                          <a:effectLst/>
                        </a:rPr>
                        <a:t>Spandan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dirty="0" sz="1600" lang="en-US" err="1">
                          <a:solidFill>
                            <a:schemeClr val="tx1"/>
                          </a:solidFill>
                          <a:effectLst/>
                        </a:rPr>
                        <a:t>PMCardio</a:t>
                      </a:r>
                      <a:r>
                        <a:rPr dirty="0" sz="1600" lang="en-US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dirty="0" sz="18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600" lang="en-US" err="1">
                          <a:solidFill>
                            <a:schemeClr val="tx1"/>
                          </a:solidFill>
                          <a:effectLst/>
                        </a:rPr>
                        <a:t>Trilyte</a:t>
                      </a:r>
                      <a:endParaRPr dirty="0" sz="18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12966">
                <a:tc>
                  <a:txBody>
                    <a:bodyPr/>
                    <a:p>
                      <a:pPr algn="just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solidFill>
                            <a:schemeClr val="tx1"/>
                          </a:solidFill>
                          <a:effectLst/>
                        </a:rPr>
                        <a:t>Potassium Detection</a:t>
                      </a:r>
                      <a:endParaRPr dirty="0" sz="16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effectLst/>
                        </a:rPr>
                        <a:t>✔ (</a:t>
                      </a:r>
                      <a:r>
                        <a:rPr dirty="0" sz="1400" lang="en-US" err="1">
                          <a:effectLst/>
                        </a:rPr>
                        <a:t>AliveCor</a:t>
                      </a:r>
                      <a:r>
                        <a:rPr dirty="0" sz="1400" lang="en-US">
                          <a:effectLst/>
                        </a:rPr>
                        <a:t>, </a:t>
                      </a:r>
                      <a:r>
                        <a:rPr dirty="0" sz="1400" lang="en-US" err="1">
                          <a:effectLst/>
                        </a:rPr>
                        <a:t>Spandan</a:t>
                      </a:r>
                      <a:r>
                        <a:rPr dirty="0" sz="1400" lang="en-US">
                          <a:effectLst/>
                        </a:rPr>
                        <a:t>)</a:t>
                      </a:r>
                      <a:endParaRPr dirty="0"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✔ AI-Driven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12966">
                <a:tc>
                  <a:txBody>
                    <a:bodyPr/>
                    <a:p>
                      <a:pPr algn="just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solidFill>
                            <a:schemeClr val="tx1"/>
                          </a:solidFill>
                          <a:effectLst/>
                        </a:rPr>
                        <a:t>Calcium Detection</a:t>
                      </a:r>
                      <a:endParaRPr dirty="0" sz="16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✖ (Only shows QT interval)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✔ Direct Prediction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62788">
                <a:tc>
                  <a:txBody>
                    <a:bodyPr/>
                    <a:p>
                      <a:pPr algn="just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solidFill>
                            <a:schemeClr val="tx1"/>
                          </a:solidFill>
                          <a:effectLst/>
                        </a:rPr>
                        <a:t>Magnesium Detection</a:t>
                      </a:r>
                      <a:endParaRPr dirty="0" sz="16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✖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✔ Integrated AI Model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65883">
                <a:tc>
                  <a:txBody>
                    <a:bodyPr/>
                    <a:p>
                      <a:pPr algn="just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solidFill>
                            <a:schemeClr val="tx1"/>
                          </a:solidFill>
                          <a:effectLst/>
                        </a:rPr>
                        <a:t>Signal Processing</a:t>
                      </a:r>
                      <a:endParaRPr dirty="0" sz="16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✔ (Cloud-based)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effectLst/>
                        </a:rPr>
                        <a:t>✔ AWS Lambda Preprocessing</a:t>
                      </a:r>
                      <a:endParaRPr dirty="0"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500768">
                <a:tc>
                  <a:txBody>
                    <a:bodyPr/>
                    <a:p>
                      <a:pPr algn="just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solidFill>
                            <a:schemeClr val="tx1"/>
                          </a:solidFill>
                          <a:effectLst/>
                        </a:rPr>
                        <a:t>Multi-Electrolyte Range</a:t>
                      </a:r>
                      <a:endParaRPr dirty="0" sz="16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✖ (Focus on K only)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effectLst/>
                        </a:rPr>
                        <a:t>✔ </a:t>
                      </a:r>
                      <a:r>
                        <a:rPr dirty="0" sz="1400" lang="en-US" err="1">
                          <a:effectLst/>
                        </a:rPr>
                        <a:t>K,Ca,Mg</a:t>
                      </a:r>
                      <a:endParaRPr dirty="0"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12966">
                <a:tc>
                  <a:txBody>
                    <a:bodyPr/>
                    <a:p>
                      <a:pPr algn="just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solidFill>
                            <a:schemeClr val="tx1"/>
                          </a:solidFill>
                          <a:effectLst/>
                        </a:rPr>
                        <a:t>Real-time Visualization</a:t>
                      </a:r>
                      <a:endParaRPr dirty="0" sz="1600" lang="en-US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lang="en-US">
                          <a:effectLst/>
                        </a:rPr>
                        <a:t>✔</a:t>
                      </a:r>
                      <a:endParaRPr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dirty="0" sz="1400" lang="en-US">
                          <a:effectLst/>
                        </a:rPr>
                        <a:t>✔ECG Graph</a:t>
                      </a:r>
                      <a:endParaRPr dirty="0" sz="1600"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720" marR="0" marT="0" marB="0" anchor="ctr"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27454">
                          <a:srgbClr val="DCE6F2"/>
                        </a:gs>
                        <a:gs pos="51332">
                          <a:srgbClr val="C5D6E9"/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27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</a:p>
        </p:txBody>
      </p:sp>
      <p:sp>
        <p:nvSpPr>
          <p:cNvPr id="10486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Invasiveness:</a:t>
            </a:r>
            <a:r>
              <a:rPr dirty="0" lang="en-US"/>
              <a:t> Existing methods require painful blood withdrawal using needles, making it difficult </a:t>
            </a:r>
            <a:r>
              <a:rPr dirty="0" lang="en-US" smtClean="0"/>
              <a:t>for </a:t>
            </a:r>
            <a:r>
              <a:rPr dirty="0" lang="en-US"/>
              <a:t>children and elderly patients</a:t>
            </a:r>
            <a:r>
              <a:rPr dirty="0" lang="en-US" smtClean="0"/>
              <a:t>.</a:t>
            </a:r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lang="en-US"/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Time-Lags:</a:t>
            </a:r>
            <a:r>
              <a:rPr dirty="0" lang="en-US"/>
              <a:t> Laboratory processing times (1–4 hours) prevent immediate medical intervention during emergencies.</a:t>
            </a:r>
            <a:endParaRPr dirty="0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</a:p>
        </p:txBody>
      </p:sp>
      <p:sp>
        <p:nvSpPr>
          <p:cNvPr id="1048638" name="Text Placeholder 7"/>
          <p:cNvSpPr>
            <a:spLocks noGrp="1"/>
          </p:cNvSpPr>
          <p:nvPr>
            <p:ph type="body" idx="1"/>
          </p:nvPr>
        </p:nvSpPr>
        <p:spPr>
          <a:xfrm>
            <a:off x="457200" y="1312817"/>
            <a:ext cx="8229600" cy="4525963"/>
          </a:xfrm>
        </p:spPr>
        <p:txBody>
          <a:bodyPr/>
          <a:p>
            <a:pPr indent="0" marL="114300">
              <a:buNone/>
            </a:pPr>
            <a:endParaRPr b="1" dirty="0" lang="en-US" smtClean="0"/>
          </a:p>
          <a:p>
            <a:pPr>
              <a:buFont typeface="Wingdings" panose="05000000000000000000" pitchFamily="2" charset="2"/>
              <a:buChar char="Ø"/>
            </a:pPr>
            <a:endParaRPr b="1" dirty="0" lang="en-US" smtClean="0"/>
          </a:p>
          <a:p>
            <a:pPr>
              <a:buFont typeface="Wingdings" panose="05000000000000000000" pitchFamily="2" charset="2"/>
              <a:buChar char="Ø"/>
            </a:pPr>
            <a:r>
              <a:rPr b="1" dirty="0" lang="en-US" smtClean="0"/>
              <a:t>Lack </a:t>
            </a:r>
            <a:r>
              <a:rPr b="1" dirty="0" lang="en-US"/>
              <a:t>of Continuous Monitoring:</a:t>
            </a:r>
            <a:r>
              <a:rPr dirty="0" lang="en-US"/>
              <a:t> Blood tests only provide a "snapshot" in time; they cannot track fluctuations happening in real-time</a:t>
            </a:r>
            <a:r>
              <a:rPr dirty="0" lang="en-US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dirty="0" lang="en-US"/>
          </a:p>
          <a:p>
            <a:pPr indent="0" marL="114300">
              <a:buFont typeface="Wingdings" panose="05000000000000000000" pitchFamily="2" charset="2"/>
              <a:buNone/>
            </a:pPr>
            <a:endParaRPr b="1" dirty="0" lang="en-US"/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Project Scope</a:t>
            </a:r>
            <a:endParaRPr dirty="0"/>
          </a:p>
        </p:txBody>
      </p:sp>
      <p:sp>
        <p:nvSpPr>
          <p:cNvPr id="1048642" name="Text Placeholder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6834" y="1417638"/>
            <a:ext cx="7197634" cy="4401205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spAutoFit/>
          </a:bodyPr>
          <a:p>
            <a:pPr eaLnBrk="0" fontAlgn="base" hangingPunct="0" marL="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Non-Invasive Detection:</a:t>
            </a:r>
            <a:r>
              <a:rPr altLang="en-US"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ECG-based detection of K⁺, Ca²⁺, Mg²⁺ imbalances</a:t>
            </a:r>
          </a:p>
          <a:p>
            <a:pPr eaLnBrk="0" fontAlgn="base" hangingPunct="0" marL="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2800" i="0" kumimoji="0" lang="en-US" normalizeH="0" err="1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IoT</a:t>
            </a:r>
            <a:r>
              <a:rPr altLang="en-US" b="1" dirty="0" sz="2800"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Infrastructure</a:t>
            </a:r>
            <a:r>
              <a:rPr altLang="en-US" dirty="0" sz="2800"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AD8232 + ESP32 for data capture and transmission</a:t>
            </a:r>
          </a:p>
          <a:p>
            <a:pPr eaLnBrk="0" fontAlgn="base" hangingPunct="0" marL="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Cloud AI</a:t>
            </a:r>
            <a:r>
              <a:rPr altLang="en-US"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Feature extraction and MLP model on AWS lambda</a:t>
            </a:r>
          </a:p>
          <a:p>
            <a:pPr eaLnBrk="0" fontAlgn="base" hangingPunct="0" marL="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Mobile App</a:t>
            </a:r>
            <a:r>
              <a:rPr altLang="en-US" baseline="0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React</a:t>
            </a:r>
            <a:r>
              <a:rPr altLang="en-US" b="0" cap="none" dirty="0" sz="28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Native for monitoring , history etc.</a:t>
            </a:r>
          </a:p>
          <a:p>
            <a:pPr eaLnBrk="0" fontAlgn="base" hangingPunct="0" marL="34290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altLang="en-US" baseline="0" b="1" dirty="0" sz="2800"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</a:t>
            </a:r>
            <a:r>
              <a:rPr altLang="en-US" b="1" dirty="0" sz="2800"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Analysis</a:t>
            </a:r>
            <a:r>
              <a:rPr altLang="en-US" dirty="0" sz="2800"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 sz="2800" lang="en-US">
                <a:latin typeface="Calibri" panose="020F0502020204030204" pitchFamily="34" charset="0"/>
                <a:cs typeface="Calibri" panose="020F0502020204030204" pitchFamily="34" charset="0"/>
              </a:rPr>
              <a:t>ECG features (T-wave, PR interval) calculated automatically</a:t>
            </a:r>
            <a:endParaRPr altLang="en-US" baseline="0" b="0" cap="none" dirty="0" sz="2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ENDEAVOUR</a:t>
            </a:r>
            <a:endParaRPr dirty="0"/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Endeavour</a:t>
            </a:r>
            <a:endParaRPr dirty="0"/>
          </a:p>
        </p:txBody>
      </p:sp>
      <p:sp>
        <p:nvSpPr>
          <p:cNvPr id="1048649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514350" lvl="0" marL="514350"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b="1" dirty="0" sz="2800" lang="en-US"/>
              <a:t>Team Roles &amp; </a:t>
            </a:r>
            <a:r>
              <a:rPr b="1" dirty="0" sz="2800" lang="en-US" smtClean="0"/>
              <a:t>Responsibilities</a:t>
            </a:r>
          </a:p>
          <a:p>
            <a:pPr indent="0" lvl="0" marL="0">
              <a:spcBef>
                <a:spcPts val="0"/>
              </a:spcBef>
              <a:buSzPts val="3200"/>
              <a:buNone/>
            </a:pPr>
            <a:endParaRPr b="1" dirty="0" sz="2800" lang="en-US" smtClean="0"/>
          </a:p>
          <a:p>
            <a:pPr indent="-514350" lvl="0" marL="5143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800" lang="en-US" smtClean="0"/>
              <a:t>Hajira Imran: </a:t>
            </a:r>
            <a:r>
              <a:rPr dirty="0" sz="2800" lang="en-US" smtClean="0"/>
              <a:t>AWS Lambda deployment &amp; app development</a:t>
            </a:r>
          </a:p>
          <a:p>
            <a:pPr indent="-514350" lvl="0" marL="5143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sz="2800" lang="en-US"/>
          </a:p>
          <a:p>
            <a:pPr indent="-514350" lvl="0" marL="5143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800" lang="en-US" err="1" smtClean="0"/>
              <a:t>Maryum</a:t>
            </a:r>
            <a:r>
              <a:rPr b="1" dirty="0" sz="2800" lang="en-US" smtClean="0"/>
              <a:t> Malik: </a:t>
            </a:r>
            <a:r>
              <a:rPr dirty="0" sz="2800" lang="en-US" smtClean="0"/>
              <a:t>AI model(MLP), ECG preprocessing and app development</a:t>
            </a:r>
          </a:p>
          <a:p>
            <a:pPr indent="-514350" lvl="0" marL="5143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sz="2800" lang="en-US"/>
          </a:p>
          <a:p>
            <a:pPr indent="-514350" marL="5143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800" lang="en-US" err="1"/>
              <a:t>Aneeza</a:t>
            </a:r>
            <a:r>
              <a:rPr b="1" dirty="0" sz="2800" lang="en-US"/>
              <a:t> </a:t>
            </a:r>
            <a:r>
              <a:rPr b="1" dirty="0" sz="2800" lang="en-US" err="1"/>
              <a:t>Sherani</a:t>
            </a:r>
            <a:r>
              <a:rPr b="1" dirty="0" sz="2800" lang="en-US"/>
              <a:t>:</a:t>
            </a:r>
            <a:r>
              <a:rPr dirty="0" sz="2800" lang="en-US"/>
              <a:t> Hardware (AD8232 + ESP32) &amp; app development </a:t>
            </a:r>
          </a:p>
          <a:p>
            <a:pPr indent="-514350" lvl="0" marL="5143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sz="2800" lang="en-US"/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Endeavour</a:t>
            </a:r>
            <a:endParaRPr dirty="0"/>
          </a:p>
        </p:txBody>
      </p:sp>
      <p:sp>
        <p:nvSpPr>
          <p:cNvPr id="1048653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lvl="0" marL="0">
              <a:spcBef>
                <a:spcPts val="0"/>
              </a:spcBef>
              <a:buSzPts val="3200"/>
              <a:buNone/>
            </a:pPr>
            <a:r>
              <a:rPr b="1" dirty="0" sz="2400" lang="en-US" smtClean="0"/>
              <a:t>2. </a:t>
            </a:r>
            <a:r>
              <a:rPr b="1" dirty="0" sz="2400" lang="en-US"/>
              <a:t>Software Development </a:t>
            </a:r>
            <a:r>
              <a:rPr b="1" dirty="0" sz="2400" lang="en-US" smtClean="0"/>
              <a:t>Process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r>
              <a:rPr dirty="0" sz="2000" lang="en-US"/>
              <a:t>We followed a </a:t>
            </a:r>
            <a:r>
              <a:rPr b="1" dirty="0" sz="2000" lang="en-US"/>
              <a:t>Phase-wise / Iterative Development Model</a:t>
            </a:r>
            <a:r>
              <a:rPr dirty="0" sz="2000" lang="en-US"/>
              <a:t> to ensure a structured workflow</a:t>
            </a:r>
            <a:r>
              <a:rPr dirty="0" sz="2000" lang="en-US" smtClean="0"/>
              <a:t>: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0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/>
              <a:t>Hardware Prototyping</a:t>
            </a:r>
            <a:r>
              <a:rPr dirty="0" sz="2400" lang="en-US"/>
              <a:t>: Sensor testing &amp; </a:t>
            </a:r>
            <a:r>
              <a:rPr dirty="0" sz="2400" lang="en-US" smtClean="0"/>
              <a:t>calibration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4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AI and Backend: </a:t>
            </a:r>
            <a:r>
              <a:rPr dirty="0" sz="2400" lang="en-US"/>
              <a:t>ECG model training &amp; cloud </a:t>
            </a:r>
            <a:r>
              <a:rPr dirty="0" sz="2400" lang="en-US" smtClean="0"/>
              <a:t>setup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b="1" dirty="0" sz="24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System Integration: </a:t>
            </a:r>
            <a:r>
              <a:rPr dirty="0" sz="2400" lang="en-US" smtClean="0"/>
              <a:t>Connected hardware with mobile app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4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Testing and Evaluation: </a:t>
            </a:r>
            <a:r>
              <a:rPr dirty="0" sz="2400" lang="en-US"/>
              <a:t>Checked latency &amp; accuracy</a:t>
            </a:r>
            <a:endParaRPr b="1" dirty="0" sz="2400" lang="en-US"/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400" lang="en-US" smtClean="0"/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Endeavour</a:t>
            </a:r>
            <a:endParaRPr dirty="0"/>
          </a:p>
        </p:txBody>
      </p:sp>
      <p:sp>
        <p:nvSpPr>
          <p:cNvPr id="1048657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lvl="0" marL="0">
              <a:spcBef>
                <a:spcPts val="0"/>
              </a:spcBef>
              <a:buSzPts val="3200"/>
              <a:buNone/>
            </a:pPr>
            <a:r>
              <a:rPr b="1" dirty="0" sz="2800" lang="en-US"/>
              <a:t>3. Way of Working as a </a:t>
            </a:r>
            <a:r>
              <a:rPr b="1" dirty="0" sz="2800" lang="en-US" smtClean="0"/>
              <a:t>Team</a:t>
            </a:r>
          </a:p>
          <a:p>
            <a:pPr indent="0" lvl="0" marL="0">
              <a:spcBef>
                <a:spcPts val="0"/>
              </a:spcBef>
              <a:buSzPts val="3200"/>
              <a:buNone/>
            </a:pPr>
            <a:endParaRPr b="1" dirty="0" sz="28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Collaborative Problem Solving: </a:t>
            </a:r>
            <a:r>
              <a:rPr dirty="0" sz="2400" lang="en-US" smtClean="0"/>
              <a:t>Switched to ESP32 improved sensors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400" lang="en-US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Agile </a:t>
            </a:r>
            <a:r>
              <a:rPr b="1" dirty="0" sz="2400" lang="en-US"/>
              <a:t>Coordination:</a:t>
            </a:r>
            <a:r>
              <a:rPr dirty="0" sz="2400" lang="en-US"/>
              <a:t> Held regular meetings to sync </a:t>
            </a:r>
            <a:r>
              <a:rPr dirty="0" sz="2400" lang="en-US" smtClean="0"/>
              <a:t>progress.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4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Peer Review</a:t>
            </a:r>
            <a:r>
              <a:rPr dirty="0" sz="2400" lang="en-US" smtClean="0"/>
              <a:t>: Internal testing and module validation</a:t>
            </a:r>
          </a:p>
          <a:p>
            <a:pPr indent="0" marL="0">
              <a:spcBef>
                <a:spcPts val="0"/>
              </a:spcBef>
              <a:buSzPts val="3200"/>
              <a:buNone/>
            </a:pPr>
            <a:endParaRPr dirty="0" sz="2400" lang="en-US" smtClean="0"/>
          </a:p>
          <a:p>
            <a:pPr marL="3429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400" lang="en-US" smtClean="0"/>
              <a:t>Professionalism: </a:t>
            </a:r>
            <a:r>
              <a:rPr dirty="0" sz="2400" lang="en-US"/>
              <a:t>Ethical practices &amp; proper documentation</a:t>
            </a:r>
            <a:endParaRPr b="1" dirty="0" sz="2400" lang="en-US" smtClean="0"/>
          </a:p>
        </p:txBody>
      </p:sp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151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PROPOSED SOLUTION</a:t>
            </a:r>
            <a:endParaRPr dirty="0"/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Proposed Solution</a:t>
            </a:r>
            <a:endParaRPr dirty="0"/>
          </a:p>
        </p:txBody>
      </p:sp>
      <p:sp>
        <p:nvSpPr>
          <p:cNvPr id="1048664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Utilizing the </a:t>
            </a:r>
            <a:r>
              <a:rPr b="1" dirty="0" lang="en-US"/>
              <a:t>AD8232 sensor</a:t>
            </a:r>
            <a:r>
              <a:rPr dirty="0" lang="en-US"/>
              <a:t> to capture high-fidelity ECG signals through skin electrodes (No </a:t>
            </a:r>
            <a:r>
              <a:rPr dirty="0" lang="en-US" smtClean="0"/>
              <a:t>needles)</a:t>
            </a:r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lang="en-US" smtClean="0"/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An integrated framework where the </a:t>
            </a:r>
            <a:r>
              <a:rPr b="1" dirty="0" lang="en-US"/>
              <a:t>ESP32</a:t>
            </a:r>
            <a:r>
              <a:rPr dirty="0" lang="en-US"/>
              <a:t> microcontroller transmits data to the cloud for instant processing</a:t>
            </a:r>
            <a:r>
              <a:rPr dirty="0" lang="en-US" smtClean="0"/>
              <a:t>.</a:t>
            </a:r>
          </a:p>
          <a:p>
            <a:pPr indent="0" marL="203200">
              <a:spcBef>
                <a:spcPts val="0"/>
              </a:spcBef>
              <a:buSzPts val="3200"/>
              <a:buNone/>
            </a:pPr>
            <a:endParaRPr dirty="0"/>
          </a:p>
        </p:txBody>
      </p:sp>
    </p:spTree>
  </p:cSld>
  <p:clrMapOvr>
    <a:masterClrMapping/>
  </p:clrMapOvr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Proposed Solution</a:t>
            </a:r>
            <a:endParaRPr dirty="0"/>
          </a:p>
        </p:txBody>
      </p:sp>
      <p:sp>
        <p:nvSpPr>
          <p:cNvPr id="104866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A </a:t>
            </a:r>
            <a:r>
              <a:rPr b="1" dirty="0" lang="en-US" smtClean="0"/>
              <a:t>Multi-Task MLP based Deep learning</a:t>
            </a:r>
            <a:r>
              <a:rPr dirty="0" lang="en-US" smtClean="0"/>
              <a:t> </a:t>
            </a:r>
            <a:r>
              <a:rPr dirty="0" lang="en-US"/>
              <a:t>model that analyzes ECG waveforms to predict </a:t>
            </a:r>
            <a:r>
              <a:rPr dirty="0" lang="en-US" smtClean="0"/>
              <a:t>electrolyte </a:t>
            </a:r>
            <a:r>
              <a:rPr dirty="0" lang="en-US"/>
              <a:t>levels</a:t>
            </a:r>
            <a:r>
              <a:rPr dirty="0" lang="en-US" smtClean="0"/>
              <a:t>.</a:t>
            </a:r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lang="en-US" smtClean="0"/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A mobile application (</a:t>
            </a:r>
            <a:r>
              <a:rPr b="1" dirty="0" lang="en-US"/>
              <a:t>React Native</a:t>
            </a:r>
            <a:r>
              <a:rPr dirty="0" lang="en-US"/>
              <a:t>) that provides immediate visual alerts and tracks long-term health trends.</a:t>
            </a:r>
            <a:endParaRPr dirty="0" lang="en-US" smtClean="0"/>
          </a:p>
        </p:txBody>
      </p:sp>
    </p:spTree>
  </p:cSld>
  <p:clrMapOvr>
    <a:masterClrMapping/>
  </p:clrMapOvr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93838" y="156755"/>
            <a:ext cx="8675842" cy="5590901"/>
          </a:xfrm>
          <a:prstGeom prst="rect"/>
        </p:spPr>
      </p:pic>
    </p:spTree>
  </p:cSld>
  <p:clrMapOvr>
    <a:masterClrMapping/>
  </p:clrMapOvr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611324"/>
            <a:ext cx="8229600" cy="692331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sz="3200" lang="en-US" smtClean="0"/>
              <a:t>                        Requirements Summary</a:t>
            </a:r>
            <a:br>
              <a:rPr dirty="0" sz="3200" lang="en-US" smtClean="0"/>
            </a:br>
            <a:endParaRPr b="1" dirty="0" sz="2400"/>
          </a:p>
        </p:txBody>
      </p:sp>
      <p:sp>
        <p:nvSpPr>
          <p:cNvPr id="1048674" name="Text Box 2"/>
          <p:cNvSpPr txBox="1"/>
          <p:nvPr/>
        </p:nvSpPr>
        <p:spPr>
          <a:xfrm>
            <a:off x="362585" y="1179195"/>
            <a:ext cx="8047355" cy="4575175"/>
          </a:xfrm>
          <a:prstGeom prst="rect"/>
          <a:noFill/>
        </p:spPr>
        <p:txBody>
          <a:bodyPr rtlCol="0" wrap="square">
            <a:noAutofit/>
          </a:bodyPr>
          <a:p>
            <a:pPr indent="0" marL="0">
              <a:buFont typeface="Arial" panose="020B0604020202020204" pitchFamily="34" charset="0"/>
              <a:buNone/>
            </a:pPr>
            <a:r>
              <a:rPr b="1" dirty="0" sz="2400" lang="en-US" smtClean="0">
                <a:sym typeface="+mn-ea"/>
              </a:rPr>
              <a:t>Functional Requirements</a:t>
            </a:r>
            <a:endParaRPr b="1" dirty="0" sz="2400"/>
          </a:p>
          <a:p>
            <a:pPr indent="0" marL="0">
              <a:buFont typeface="Arial" panose="020B0604020202020204" pitchFamily="34" charset="0"/>
              <a:buNone/>
            </a:pPr>
            <a:endParaRPr altLang="en-US" sz="2800"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altLang="en-US" sz="2800" lang="en-US">
                <a:latin typeface="Calibri" panose="020F0502020204030204" pitchFamily="34" charset="0"/>
                <a:cs typeface="Calibri" panose="020F0502020204030204" pitchFamily="34" charset="0"/>
              </a:rPr>
              <a:t>User registration and secure login system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altLang="en-US" sz="2800" lang="en-US">
                <a:latin typeface="Calibri" panose="020F0502020204030204" pitchFamily="34" charset="0"/>
                <a:cs typeface="Calibri" panose="020F0502020204030204" pitchFamily="34" charset="0"/>
              </a:rPr>
              <a:t>Real-time ECG signal acquisition using AD8232 + ESP32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altLang="en-US" sz="2800" lang="en-US">
                <a:latin typeface="Calibri" panose="020F0502020204030204" pitchFamily="34" charset="0"/>
                <a:cs typeface="Calibri" panose="020F0502020204030204" pitchFamily="34" charset="0"/>
              </a:rPr>
              <a:t>AI-based prediction of electrolyte levels (K⁺, Ca²⁺, Mg²⁺)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altLang="en-US" sz="2800" lang="en-US">
                <a:latin typeface="Calibri" panose="020F0502020204030204" pitchFamily="34" charset="0"/>
                <a:cs typeface="Calibri" panose="020F0502020204030204" pitchFamily="34" charset="0"/>
              </a:rPr>
              <a:t>Display of results and recommendations in mobile app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altLang="en-US" sz="2800" lang="en-US">
                <a:latin typeface="Calibri" panose="020F0502020204030204" pitchFamily="34" charset="0"/>
                <a:cs typeface="Calibri" panose="020F0502020204030204" pitchFamily="34" charset="0"/>
              </a:rPr>
              <a:t>Storage of ECG history with timestamps</a:t>
            </a:r>
          </a:p>
          <a:p>
            <a:pPr indent="-457200" marL="457200">
              <a:buFont typeface="Arial" panose="020B0604020202020204" pitchFamily="34" charset="0"/>
              <a:buChar char="•"/>
            </a:pPr>
            <a:r>
              <a:rPr altLang="en-US" sz="2800" lang="en-US">
                <a:latin typeface="Calibri" panose="020F0502020204030204" pitchFamily="34" charset="0"/>
                <a:cs typeface="Calibri" panose="020F0502020204030204" pitchFamily="34" charset="0"/>
              </a:rPr>
              <a:t>Secure user logout and session management</a:t>
            </a:r>
          </a:p>
        </p:txBody>
      </p:sp>
    </p:spTree>
  </p:cSld>
  <p:clrMapOvr>
    <a:masterClrMapping/>
  </p:clrMapOvr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3200" lang="en-US" smtClean="0"/>
              <a:t>Non-Functional Requirements</a:t>
            </a:r>
          </a:p>
        </p:txBody>
      </p:sp>
      <p:sp>
        <p:nvSpPr>
          <p:cNvPr id="1048678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382" y="1417955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20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Wingdings" panose="05000000000000000000" charset="0"/>
              <a:buNone/>
            </a:pPr>
            <a:r>
              <a:rPr altLang="en-US" b="1" dirty="0" sz="2400" lang="en-US"/>
              <a:t>Performance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Real-time ECG processing within ~30 seconds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Smooth data transmission via Firebase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Noise-free ECG signal processing and visualization</a:t>
            </a:r>
          </a:p>
          <a:p>
            <a:pPr algn="l" indent="0" lvl="0" marL="20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altLang="en-US" b="1" dirty="0" sz="2400" lang="en-US"/>
              <a:t>Security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Secure authentication and login system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Encrypted data transmission using HTTPS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Role-based access to protect user data</a:t>
            </a:r>
          </a:p>
          <a:p>
            <a:pPr algn="l" indent="0" lvl="0" marL="20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altLang="en-US" b="1" dirty="0" sz="2400" lang="en-US"/>
              <a:t>Safety</a:t>
            </a:r>
            <a:endParaRPr altLang="en-US" dirty="0" sz="2400" lang="en-US"/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Non-invasive ECG monitoring (no internal body interaction)</a:t>
            </a:r>
          </a:p>
          <a:p>
            <a:pPr algn="l" lvl="0" marL="546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</a:pPr>
            <a:r>
              <a:rPr altLang="en-US" dirty="0" sz="2400" lang="en-US"/>
              <a:t>Low-power hardware operation for safe usage</a:t>
            </a:r>
          </a:p>
        </p:txBody>
      </p:sp>
    </p:spTree>
  </p:cSld>
  <p:clrMapOvr>
    <a:masterClrMapping/>
  </p:clrMapOvr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164;p14"/>
          <p:cNvSpPr txBox="1">
            <a:spLocks noGrp="1"/>
          </p:cNvSpPr>
          <p:nvPr>
            <p:ph type="body" idx="1"/>
          </p:nvPr>
        </p:nvSpPr>
        <p:spPr>
          <a:xfrm>
            <a:off x="287655" y="62007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altLang="en-US" b="1" dirty="0" sz="2800" lang="en-US"/>
              <a:t>Hardware</a:t>
            </a:r>
            <a:endParaRPr altLang="en-US" dirty="0" sz="2800" lang="en-US"/>
          </a:p>
          <a:p>
            <a:r>
              <a:rPr altLang="en-US" dirty="0" sz="2800" lang="en-US"/>
              <a:t>AD8232 ECG sensor module</a:t>
            </a:r>
          </a:p>
          <a:p>
            <a:r>
              <a:rPr altLang="en-US" dirty="0" sz="2800" lang="en-US"/>
              <a:t>ESP32 microcontroller (Wi-Fi enabled)</a:t>
            </a:r>
          </a:p>
          <a:p>
            <a:r>
              <a:rPr altLang="en-US" dirty="0" sz="2800" lang="en-US"/>
              <a:t>Mobile device (Android/iOS)</a:t>
            </a:r>
          </a:p>
          <a:p>
            <a:r>
              <a:rPr altLang="en-US" dirty="0" sz="2800" lang="en-US"/>
              <a:t>Development system for training ML model</a:t>
            </a:r>
          </a:p>
          <a:p>
            <a:pPr indent="0" marL="114300">
              <a:buNone/>
            </a:pPr>
            <a:r>
              <a:rPr altLang="en-US" b="1" dirty="0" sz="2800" lang="en-US"/>
              <a:t>Software</a:t>
            </a:r>
            <a:endParaRPr altLang="en-US" dirty="0" sz="2800" lang="en-US"/>
          </a:p>
          <a:p>
            <a:r>
              <a:rPr altLang="en-US" dirty="0" sz="2800" lang="en-US"/>
              <a:t>Python (ML model development)</a:t>
            </a:r>
          </a:p>
          <a:p>
            <a:r>
              <a:rPr altLang="en-US" dirty="0" sz="2800" lang="en-US"/>
              <a:t>React Native (mobile application)</a:t>
            </a:r>
          </a:p>
          <a:p>
            <a:r>
              <a:rPr altLang="en-US" dirty="0" sz="2800" lang="en-US"/>
              <a:t>TensorFlow/Keras (deep learning model)</a:t>
            </a:r>
          </a:p>
          <a:p>
            <a:r>
              <a:rPr altLang="en-US" dirty="0" sz="2800" lang="en-US"/>
              <a:t>Firebase + AWS (cloud storage &amp; processing)</a:t>
            </a:r>
          </a:p>
          <a:p>
            <a:r>
              <a:rPr altLang="en-US" dirty="0" sz="2800" lang="en-US"/>
              <a:t>HTTPS communication protocols</a:t>
            </a:r>
          </a:p>
        </p:txBody>
      </p:sp>
    </p:spTree>
  </p:cSld>
  <p:clrMapOvr>
    <a:masterClrMapping/>
  </p:clrMapOvr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Design </a:t>
            </a:r>
            <a:r>
              <a:rPr dirty="0" lang="en-US"/>
              <a:t>Summary</a:t>
            </a:r>
            <a:endParaRPr dirty="0"/>
          </a:p>
        </p:txBody>
      </p:sp>
      <p:sp>
        <p:nvSpPr>
          <p:cNvPr id="1048685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b="1" dirty="0" sz="2800" lang="en-US" smtClean="0"/>
              <a:t>1. System </a:t>
            </a:r>
            <a:r>
              <a:rPr b="1" dirty="0" sz="2800" lang="en-US"/>
              <a:t>Architecture (3-Tier Model):</a:t>
            </a:r>
            <a:endParaRPr dirty="0" sz="2800" lang="en-US"/>
          </a:p>
          <a:p>
            <a:pPr>
              <a:buFont typeface="Wingdings" panose="05000000000000000000" pitchFamily="2" charset="2"/>
              <a:buChar char="Ø"/>
            </a:pPr>
            <a:r>
              <a:rPr b="1" dirty="0" sz="2800" lang="en-US"/>
              <a:t>Perception Layer:</a:t>
            </a:r>
            <a:r>
              <a:rPr dirty="0" sz="2800" lang="en-US"/>
              <a:t> Hardware (AD8232 + ESP32) for ECG signal acquisition.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 sz="2800" lang="en-US"/>
              <a:t>Network/Cloud Layer:</a:t>
            </a:r>
            <a:r>
              <a:rPr dirty="0" sz="2800" lang="en-US"/>
              <a:t> AWS Lambda for computation and Firebase for real-time data storage</a:t>
            </a:r>
            <a:r>
              <a:rPr dirty="0" sz="2800" lang="en-US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b="1" dirty="0" sz="2800" lang="en-US" smtClean="0"/>
              <a:t>Application Layer: </a:t>
            </a:r>
            <a:r>
              <a:rPr dirty="0" sz="2800" lang="en-US" smtClean="0"/>
              <a:t>React Native mobile interface </a:t>
            </a:r>
            <a:endParaRPr dirty="0" sz="2800" lang="en-US"/>
          </a:p>
          <a:p>
            <a:pPr indent="0" lvl="0" marL="203200">
              <a:spcBef>
                <a:spcPts val="0"/>
              </a:spcBef>
              <a:buSzPts val="3200"/>
              <a:buNone/>
            </a:pPr>
            <a:r>
              <a:rPr dirty="0" sz="2800" lang="en-US" smtClean="0"/>
              <a:t>For user interaction</a:t>
            </a:r>
            <a:endParaRPr dirty="0" sz="2800" lang="en-US"/>
          </a:p>
        </p:txBody>
      </p:sp>
    </p:spTree>
  </p:cSld>
  <p:clrMapOvr>
    <a:masterClrMapping/>
  </p:clrMapOvr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Design </a:t>
            </a:r>
            <a:r>
              <a:rPr dirty="0" lang="en-US"/>
              <a:t>Summary</a:t>
            </a:r>
            <a:endParaRPr dirty="0"/>
          </a:p>
        </p:txBody>
      </p:sp>
      <p:sp>
        <p:nvSpPr>
          <p:cNvPr id="1048689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b="1" dirty="0" sz="2800" lang="en-US" smtClean="0"/>
              <a:t>2. Logic </a:t>
            </a:r>
            <a:r>
              <a:rPr b="1" dirty="0" sz="2800" lang="en-US"/>
              <a:t>&amp; Data </a:t>
            </a:r>
            <a:r>
              <a:rPr b="1" dirty="0" sz="2800" lang="en-US" smtClean="0"/>
              <a:t>Flow</a:t>
            </a:r>
          </a:p>
          <a:p>
            <a:pPr indent="0" marL="114300">
              <a:buNone/>
            </a:pPr>
            <a:endParaRPr dirty="0" sz="2800" lang="en-US"/>
          </a:p>
          <a:p>
            <a:pPr>
              <a:buFont typeface="Wingdings" panose="05000000000000000000" pitchFamily="2" charset="2"/>
              <a:buChar char="Ø"/>
            </a:pPr>
            <a:r>
              <a:rPr dirty="0" sz="2800" lang="en-US"/>
              <a:t>Designed a seamless pipeline: </a:t>
            </a:r>
            <a:r>
              <a:rPr b="1" dirty="0" sz="2800" lang="en-US"/>
              <a:t>Sensor → </a:t>
            </a:r>
            <a:r>
              <a:rPr b="1" dirty="0" sz="2800" lang="en-US" err="1"/>
              <a:t>WiFi</a:t>
            </a:r>
            <a:r>
              <a:rPr b="1" dirty="0" sz="2800" lang="en-US"/>
              <a:t> (ESP32) → Cloud (AWS) → AI Inference → Mobile App.</a:t>
            </a:r>
            <a:endParaRPr dirty="0" sz="2800" lang="en-US"/>
          </a:p>
          <a:p>
            <a:pPr>
              <a:buFont typeface="Wingdings" panose="05000000000000000000" pitchFamily="2" charset="2"/>
              <a:buChar char="Ø"/>
            </a:pPr>
            <a:r>
              <a:rPr dirty="0" sz="2800" lang="en-US"/>
              <a:t>Implemented </a:t>
            </a:r>
            <a:r>
              <a:rPr b="1" dirty="0" sz="2800" lang="en-US"/>
              <a:t>Real-time Synchronization</a:t>
            </a:r>
            <a:r>
              <a:rPr dirty="0" sz="2800" lang="en-US"/>
              <a:t> logic to ensure results appear within seconds of recording</a:t>
            </a:r>
          </a:p>
        </p:txBody>
      </p:sp>
    </p:spTree>
  </p:cSld>
  <p:clrMapOvr>
    <a:masterClrMapping/>
  </p:clrMapOvr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Design </a:t>
            </a:r>
            <a:r>
              <a:rPr dirty="0" lang="en-US"/>
              <a:t>Summary</a:t>
            </a:r>
            <a:endParaRPr dirty="0"/>
          </a:p>
        </p:txBody>
      </p:sp>
      <p:sp>
        <p:nvSpPr>
          <p:cNvPr id="1048693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b="1" dirty="0" sz="2800" lang="en-US" smtClean="0"/>
              <a:t>3. AI </a:t>
            </a:r>
            <a:r>
              <a:rPr b="1" dirty="0" sz="2800" lang="en-US"/>
              <a:t>Model Design</a:t>
            </a:r>
            <a:r>
              <a:rPr b="1" dirty="0" sz="2800" lang="en-US" smtClean="0"/>
              <a:t>:</a:t>
            </a:r>
          </a:p>
          <a:p>
            <a:pPr indent="0" marL="114300">
              <a:buNone/>
            </a:pPr>
            <a:endParaRPr dirty="0" sz="2800" lang="en-US"/>
          </a:p>
          <a:p>
            <a:pPr>
              <a:buFont typeface="Wingdings" panose="05000000000000000000" pitchFamily="2" charset="2"/>
              <a:buChar char="Ø"/>
            </a:pPr>
            <a:r>
              <a:rPr dirty="0" sz="2800" lang="en-US"/>
              <a:t>Utilized a </a:t>
            </a:r>
            <a:r>
              <a:rPr b="1" dirty="0" sz="2800" lang="en-US"/>
              <a:t>Multi-Task Learning (MTL)</a:t>
            </a:r>
            <a:r>
              <a:rPr dirty="0" sz="2800" lang="en-US"/>
              <a:t> approach.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z="2800" lang="en-US"/>
              <a:t>Architecture includes </a:t>
            </a:r>
            <a:r>
              <a:rPr b="1" dirty="0" sz="2800" lang="en-US"/>
              <a:t>Shared Layers</a:t>
            </a:r>
            <a:r>
              <a:rPr dirty="0" sz="2800" lang="en-US"/>
              <a:t> (to learn common ECG patterns) and </a:t>
            </a:r>
            <a:r>
              <a:rPr b="1" dirty="0" sz="2800" lang="en-US"/>
              <a:t>Task-Specific Heads</a:t>
            </a:r>
            <a:r>
              <a:rPr dirty="0" sz="2800" lang="en-US"/>
              <a:t> (for individual Potassium, Calcium, and Magnesium prediction).</a:t>
            </a:r>
          </a:p>
        </p:txBody>
      </p:sp>
    </p:spTree>
  </p:cSld>
  <p:clrMapOvr>
    <a:masterClrMapping/>
  </p:clrMapOvr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 smtClean="0"/>
              <a:t>Design </a:t>
            </a:r>
            <a:r>
              <a:rPr dirty="0" lang="en-US"/>
              <a:t>Summary</a:t>
            </a:r>
            <a:endParaRPr dirty="0"/>
          </a:p>
        </p:txBody>
      </p:sp>
      <p:sp>
        <p:nvSpPr>
          <p:cNvPr id="1048697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114300">
              <a:buNone/>
            </a:pPr>
            <a:r>
              <a:rPr b="1" dirty="0" sz="2800" lang="en-US" smtClean="0"/>
              <a:t>4. UI/UX </a:t>
            </a:r>
            <a:r>
              <a:rPr b="1" dirty="0" sz="2800" lang="en-US"/>
              <a:t>Design </a:t>
            </a:r>
            <a:r>
              <a:rPr b="1" dirty="0" sz="2800" lang="en-US" smtClean="0"/>
              <a:t>Strategy</a:t>
            </a:r>
            <a:endParaRPr b="1" dirty="0" sz="2800" lang="en-US"/>
          </a:p>
          <a:p>
            <a:pPr indent="0" marL="114300">
              <a:buNone/>
            </a:pPr>
            <a:endParaRPr dirty="0" sz="2800" lang="en-US"/>
          </a:p>
          <a:p>
            <a:pPr>
              <a:buFont typeface="Wingdings" panose="05000000000000000000" pitchFamily="2" charset="2"/>
              <a:buChar char="Ø"/>
            </a:pPr>
            <a:r>
              <a:rPr dirty="0" sz="2800" lang="en-US"/>
              <a:t>Developed intuitive dashboards for real-time ECG monitoring.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z="2800" lang="en-US"/>
              <a:t>Designed </a:t>
            </a:r>
            <a:r>
              <a:rPr b="1" dirty="0" sz="2800" lang="en-US"/>
              <a:t>Visual Alerts</a:t>
            </a:r>
            <a:r>
              <a:rPr dirty="0" sz="2800" lang="en-US"/>
              <a:t> (Color-coded: Normal/High/Low) for quick medical interpretation</a:t>
            </a:r>
          </a:p>
        </p:txBody>
      </p:sp>
    </p:spTree>
  </p:cSld>
  <p:clrMapOvr>
    <a:masterClrMapping/>
  </p:clrMapOvr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dirty="0" sz="2800" lang="en-US" smtClean="0"/>
              <a:t>Visual Representation of Design Summary</a:t>
            </a:r>
            <a:endParaRPr b="1" dirty="0" sz="2800"/>
          </a:p>
        </p:txBody>
      </p:sp>
      <p:pic>
        <p:nvPicPr>
          <p:cNvPr id="2097154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34489" y="1417638"/>
            <a:ext cx="8152311" cy="4486773"/>
          </a:xfrm>
          <a:prstGeom prst="rect"/>
        </p:spPr>
      </p:pic>
    </p:spTree>
  </p:cSld>
  <p:clrMapOvr>
    <a:masterClrMapping/>
  </p:clrMapOvr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Implementation Summary</a:t>
            </a:r>
            <a:endParaRPr dirty="0"/>
          </a:p>
        </p:txBody>
      </p:sp>
      <p:sp>
        <p:nvSpPr>
          <p:cNvPr id="1048704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139700" lvl="0" marL="342900">
              <a:spcBef>
                <a:spcPts val="0"/>
              </a:spcBef>
              <a:buSzPts val="3200"/>
              <a:buNone/>
            </a:pPr>
            <a:r>
              <a:rPr b="1" dirty="0" lang="en-US" smtClean="0"/>
              <a:t>Phase </a:t>
            </a:r>
            <a:r>
              <a:rPr b="1" dirty="0" lang="en-US"/>
              <a:t>1: Hardware </a:t>
            </a:r>
            <a:r>
              <a:rPr b="1" dirty="0" lang="en-US" smtClean="0"/>
              <a:t>Interfacing</a:t>
            </a:r>
          </a:p>
          <a:p>
            <a:pPr indent="-139700" lvl="0" marL="342900">
              <a:spcBef>
                <a:spcPts val="0"/>
              </a:spcBef>
              <a:buSzPts val="3200"/>
              <a:buNone/>
            </a:pPr>
            <a:endParaRPr dirty="0" lang="en-US" smtClean="0"/>
          </a:p>
          <a:p>
            <a:pPr indent="-51435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sz="2800" lang="en-US" smtClean="0"/>
              <a:t>Integrating </a:t>
            </a:r>
            <a:r>
              <a:rPr b="1" dirty="0" sz="2800" lang="en-US" smtClean="0"/>
              <a:t>AD8232 </a:t>
            </a:r>
            <a:r>
              <a:rPr b="1" dirty="0" sz="2800" lang="en-US"/>
              <a:t>ECG sensor</a:t>
            </a:r>
            <a:r>
              <a:rPr dirty="0" sz="2800" lang="en-US"/>
              <a:t> with </a:t>
            </a:r>
            <a:r>
              <a:rPr b="1" dirty="0" sz="2800" lang="en-US"/>
              <a:t>ESP32</a:t>
            </a:r>
            <a:r>
              <a:rPr dirty="0" sz="2800" lang="en-US"/>
              <a:t> using </a:t>
            </a:r>
            <a:r>
              <a:rPr dirty="0" sz="2800" lang="en-US" smtClean="0"/>
              <a:t>Analog </a:t>
            </a:r>
            <a:r>
              <a:rPr dirty="0" sz="2800" lang="en-US"/>
              <a:t>Pins</a:t>
            </a:r>
            <a:r>
              <a:rPr dirty="0" sz="2800" lang="en-US" smtClean="0"/>
              <a:t>.</a:t>
            </a:r>
          </a:p>
          <a:p>
            <a:pPr indent="-51435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sz="2800" lang="en-US"/>
              <a:t>Implemented a </a:t>
            </a:r>
            <a:r>
              <a:rPr b="1" dirty="0" sz="2800" lang="en-US"/>
              <a:t>250Hz sampling rate</a:t>
            </a:r>
            <a:r>
              <a:rPr dirty="0" sz="2800" lang="en-US"/>
              <a:t> to capture high-resolution cardiac data</a:t>
            </a:r>
            <a:r>
              <a:rPr dirty="0" sz="2800" lang="en-US" smtClean="0"/>
              <a:t>.</a:t>
            </a:r>
          </a:p>
          <a:p>
            <a:pPr indent="-51435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sz="2800" lang="en-US"/>
              <a:t>Applied an </a:t>
            </a:r>
            <a:r>
              <a:rPr b="1" dirty="0" sz="2800" lang="en-US"/>
              <a:t>EMA (Exponential Moving Average) Filter</a:t>
            </a:r>
            <a:r>
              <a:rPr dirty="0" sz="2800" lang="en-US"/>
              <a:t> in </a:t>
            </a:r>
            <a:r>
              <a:rPr dirty="0" sz="2800" lang="en-US" err="1"/>
              <a:t>MicroPython</a:t>
            </a:r>
            <a:r>
              <a:rPr dirty="0" sz="2800" lang="en-US"/>
              <a:t> to clean the raw signal before transmission.</a:t>
            </a:r>
          </a:p>
        </p:txBody>
      </p:sp>
    </p:spTree>
  </p:cSld>
  <p:clrMapOvr>
    <a:masterClrMapping/>
  </p:clrMapOvr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</a:p>
        </p:txBody>
      </p:sp>
      <p:sp>
        <p:nvSpPr>
          <p:cNvPr id="1048708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139700" lvl="0" marL="342900">
              <a:spcBef>
                <a:spcPts val="0"/>
              </a:spcBef>
              <a:buSzPts val="3200"/>
              <a:buNone/>
            </a:pPr>
            <a:r>
              <a:rPr b="1" dirty="0" lang="en-US" smtClean="0"/>
              <a:t>Phase </a:t>
            </a:r>
            <a:r>
              <a:rPr b="1" dirty="0" lang="en-US"/>
              <a:t>2: Cloud &amp; Backend </a:t>
            </a:r>
            <a:r>
              <a:rPr b="1" dirty="0" lang="en-US" smtClean="0"/>
              <a:t>Setup</a:t>
            </a:r>
          </a:p>
          <a:p>
            <a:pPr indent="-139700" lvl="0" marL="342900">
              <a:spcBef>
                <a:spcPts val="0"/>
              </a:spcBef>
              <a:buSzPts val="3200"/>
              <a:buNone/>
            </a:pPr>
            <a:endParaRPr b="1" dirty="0" lang="en-US"/>
          </a:p>
          <a:p>
            <a:pPr indent="-514350" lvl="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sz="2800" lang="en-US" smtClean="0"/>
              <a:t>Configured </a:t>
            </a:r>
            <a:r>
              <a:rPr b="1" dirty="0" sz="2800" lang="en-US"/>
              <a:t>Firebase </a:t>
            </a:r>
            <a:r>
              <a:rPr b="1" dirty="0" sz="2800" lang="en-US" err="1"/>
              <a:t>Realtime</a:t>
            </a:r>
            <a:r>
              <a:rPr b="1" dirty="0" sz="2800" lang="en-US"/>
              <a:t> Database</a:t>
            </a:r>
            <a:r>
              <a:rPr dirty="0" sz="2800" lang="en-US"/>
              <a:t> for instant data logging and storage</a:t>
            </a:r>
            <a:r>
              <a:rPr dirty="0" sz="2800" lang="en-US" smtClean="0"/>
              <a:t>.</a:t>
            </a:r>
          </a:p>
          <a:p>
            <a:pPr indent="-514350" lvl="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sz="2800" lang="en-US"/>
              <a:t>Deployed a </a:t>
            </a:r>
            <a:r>
              <a:rPr b="1" dirty="0" sz="2800" lang="en-US" err="1"/>
              <a:t>Serverless</a:t>
            </a:r>
            <a:r>
              <a:rPr b="1" dirty="0" sz="2800" lang="en-US"/>
              <a:t> Backend</a:t>
            </a:r>
            <a:r>
              <a:rPr dirty="0" sz="2800" lang="en-US"/>
              <a:t> using </a:t>
            </a:r>
            <a:r>
              <a:rPr b="1" dirty="0" sz="2800" lang="en-US"/>
              <a:t>AWS Lambda</a:t>
            </a:r>
            <a:r>
              <a:rPr dirty="0" sz="2800" lang="en-US"/>
              <a:t> to host the Multi-Task DNN model</a:t>
            </a:r>
            <a:r>
              <a:rPr dirty="0" sz="2800" lang="en-US" smtClean="0"/>
              <a:t>.</a:t>
            </a:r>
          </a:p>
          <a:p>
            <a:pPr indent="-514350" lvl="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sz="2800" lang="en-US"/>
              <a:t>Established a </a:t>
            </a:r>
            <a:r>
              <a:rPr b="1" dirty="0" sz="2800" lang="en-US"/>
              <a:t>trigger mechanism</a:t>
            </a:r>
            <a:r>
              <a:rPr dirty="0" sz="2800" lang="en-US"/>
              <a:t> where ESP32 initiates AI prediction via a specialized Lambda URL.</a:t>
            </a:r>
          </a:p>
        </p:txBody>
      </p:sp>
    </p:spTree>
  </p:cSld>
  <p:clrMapOvr>
    <a:masterClrMapping/>
  </p:clrMapOvr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</a:p>
        </p:txBody>
      </p:sp>
      <p:sp>
        <p:nvSpPr>
          <p:cNvPr id="1048712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139700" lvl="0" marL="342900">
              <a:spcBef>
                <a:spcPts val="0"/>
              </a:spcBef>
              <a:buSzPts val="3200"/>
              <a:buNone/>
            </a:pPr>
            <a:r>
              <a:rPr b="1" dirty="0" lang="en-US"/>
              <a:t>Phase 3: AI Model </a:t>
            </a:r>
            <a:r>
              <a:rPr b="1" dirty="0" lang="en-US" smtClean="0"/>
              <a:t>Deployment</a:t>
            </a:r>
          </a:p>
          <a:p>
            <a:pPr indent="-139700" lvl="0" marL="342900">
              <a:spcBef>
                <a:spcPts val="0"/>
              </a:spcBef>
              <a:buSzPts val="3200"/>
              <a:buNone/>
            </a:pPr>
            <a:endParaRPr b="1" dirty="0" lang="en-US" smtClean="0"/>
          </a:p>
          <a:p>
            <a:pPr indent="-514350" lvl="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 smtClean="0"/>
              <a:t>The multi-task </a:t>
            </a:r>
            <a:r>
              <a:rPr dirty="0" lang="en-US"/>
              <a:t>deep learning model was converted to a cloud-compatible format (</a:t>
            </a:r>
            <a:r>
              <a:rPr dirty="0" lang="en-US" err="1"/>
              <a:t>TFLite</a:t>
            </a:r>
            <a:r>
              <a:rPr dirty="0" lang="en-US"/>
              <a:t>/</a:t>
            </a:r>
            <a:r>
              <a:rPr dirty="0" lang="en-US" err="1"/>
              <a:t>Keras</a:t>
            </a:r>
            <a:r>
              <a:rPr dirty="0" lang="en-US" smtClean="0"/>
              <a:t>).</a:t>
            </a:r>
          </a:p>
          <a:p>
            <a:pPr indent="-514350" lvl="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dirty="0" lang="en-US"/>
          </a:p>
          <a:p>
            <a:pPr indent="-514350" lvl="0" marL="71755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The model processes 8 specific ECG features</a:t>
            </a:r>
          </a:p>
        </p:txBody>
      </p:sp>
    </p:spTree>
  </p:cSld>
  <p:clrMapOvr>
    <a:masterClrMapping/>
  </p:clrMapOvr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</a:p>
        </p:txBody>
      </p:sp>
      <p:sp>
        <p:nvSpPr>
          <p:cNvPr id="1048716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139700" lvl="0" marL="342900">
              <a:spcBef>
                <a:spcPts val="0"/>
              </a:spcBef>
              <a:buSzPts val="3200"/>
              <a:buNone/>
            </a:pPr>
            <a:r>
              <a:rPr b="1" dirty="0" lang="en-US"/>
              <a:t>Phase 4: Mobile Application </a:t>
            </a:r>
            <a:r>
              <a:rPr b="1" dirty="0" lang="en-US" smtClean="0"/>
              <a:t>Integration</a:t>
            </a:r>
          </a:p>
          <a:p>
            <a:pPr indent="-139700" lvl="0" marL="342900">
              <a:spcBef>
                <a:spcPts val="0"/>
              </a:spcBef>
              <a:buSzPts val="3200"/>
              <a:buNone/>
            </a:pPr>
            <a:endParaRPr b="1" dirty="0" lang="en-US"/>
          </a:p>
          <a:p>
            <a:pPr indent="-457200" lvl="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Developed the </a:t>
            </a:r>
            <a:r>
              <a:rPr b="1" dirty="0" lang="en-US" err="1"/>
              <a:t>Trilyte</a:t>
            </a:r>
            <a:r>
              <a:rPr b="1" dirty="0" lang="en-US"/>
              <a:t> App</a:t>
            </a:r>
            <a:r>
              <a:rPr dirty="0" lang="en-US"/>
              <a:t> using </a:t>
            </a:r>
            <a:r>
              <a:rPr b="1" dirty="0" lang="en-US"/>
              <a:t>React Native</a:t>
            </a:r>
            <a:r>
              <a:rPr dirty="0" lang="en-US" smtClean="0"/>
              <a:t>.</a:t>
            </a:r>
          </a:p>
          <a:p>
            <a:pPr indent="-457200" lvl="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endParaRPr b="1" dirty="0" lang="en-US"/>
          </a:p>
          <a:p>
            <a:pPr indent="-457200" lvl="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dirty="0" lang="en-US"/>
              <a:t>Implemented </a:t>
            </a:r>
            <a:r>
              <a:rPr b="1" dirty="0" lang="en-US"/>
              <a:t>Real-time Listeners</a:t>
            </a:r>
            <a:r>
              <a:rPr dirty="0" lang="en-US"/>
              <a:t> to fetch prediction results from Firebase the moment they are generated.</a:t>
            </a:r>
            <a:endParaRPr b="1" dirty="0" lang="en-US" smtClean="0"/>
          </a:p>
        </p:txBody>
      </p:sp>
    </p:spTree>
  </p:cSld>
  <p:clrMapOvr>
    <a:masterClrMapping/>
  </p:clrMapOvr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Testing &amp; Evaluation Summary</a:t>
            </a:r>
            <a:endParaRPr dirty="0"/>
          </a:p>
        </p:txBody>
      </p:sp>
      <p:sp>
        <p:nvSpPr>
          <p:cNvPr id="1048720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203200">
              <a:spcBef>
                <a:spcPts val="0"/>
              </a:spcBef>
              <a:buSzPts val="3200"/>
              <a:buNone/>
            </a:pPr>
            <a:r>
              <a:rPr b="1" dirty="0" lang="en-US" smtClean="0"/>
              <a:t>1. Hardware &amp; Connectivity Testing</a:t>
            </a:r>
          </a:p>
          <a:p>
            <a:pPr indent="-457200">
              <a:spcBef>
                <a:spcPts val="64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800" lang="en-US" smtClean="0"/>
              <a:t>Noise Analysis:</a:t>
            </a:r>
            <a:r>
              <a:rPr dirty="0" sz="2800" lang="en-US" smtClean="0"/>
              <a:t> Tested the </a:t>
            </a:r>
            <a:r>
              <a:rPr b="1" dirty="0" sz="2800" lang="en-US" smtClean="0"/>
              <a:t>EMA Filter</a:t>
            </a:r>
            <a:r>
              <a:rPr dirty="0" sz="2800" lang="en-US" smtClean="0"/>
              <a:t> efficiency in removing motion artifacts and </a:t>
            </a:r>
            <a:r>
              <a:rPr dirty="0" sz="2800" lang="en-US" err="1" smtClean="0"/>
              <a:t>powerline</a:t>
            </a:r>
            <a:r>
              <a:rPr dirty="0" sz="2800" lang="en-US" smtClean="0"/>
              <a:t> interference.</a:t>
            </a:r>
          </a:p>
          <a:p>
            <a:pPr indent="-457200">
              <a:spcBef>
                <a:spcPts val="640"/>
              </a:spcBef>
              <a:buSzPts val="3200"/>
            </a:pPr>
            <a:endParaRPr dirty="0" sz="2800" lang="en-US" smtClean="0"/>
          </a:p>
          <a:p>
            <a:pPr indent="-457200">
              <a:spcBef>
                <a:spcPts val="64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sz="2800" lang="en-US" smtClean="0"/>
              <a:t>Sensor Calibration:</a:t>
            </a:r>
            <a:r>
              <a:rPr dirty="0" sz="2800" lang="en-US" smtClean="0"/>
              <a:t> Validated </a:t>
            </a:r>
            <a:r>
              <a:rPr b="1" dirty="0" sz="2800" lang="en-US" smtClean="0"/>
              <a:t>AD8232</a:t>
            </a:r>
            <a:r>
              <a:rPr dirty="0" sz="2800" lang="en-US" smtClean="0"/>
              <a:t> output against baseline ECG patterns to ensure signal clarity.</a:t>
            </a:r>
          </a:p>
          <a:p>
            <a:pPr indent="0" marL="0">
              <a:spcBef>
                <a:spcPts val="640"/>
              </a:spcBef>
              <a:buSzPts val="3200"/>
              <a:buNone/>
            </a:pPr>
            <a:endParaRPr dirty="0"/>
          </a:p>
        </p:txBody>
      </p:sp>
    </p:spTree>
  </p:cSld>
  <p:clrMapOvr>
    <a:masterClrMapping/>
  </p:clrMapOvr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Testing &amp; Evaluation Summary</a:t>
            </a:r>
            <a:endParaRPr dirty="0"/>
          </a:p>
        </p:txBody>
      </p:sp>
      <p:sp>
        <p:nvSpPr>
          <p:cNvPr id="1048724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299754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0">
              <a:spcBef>
                <a:spcPts val="640"/>
              </a:spcBef>
              <a:buSzPts val="3200"/>
              <a:buNone/>
            </a:pPr>
            <a:endParaRPr dirty="0" lang="en-US" smtClean="0"/>
          </a:p>
          <a:p>
            <a:pPr indent="0" marL="0">
              <a:spcBef>
                <a:spcPts val="640"/>
              </a:spcBef>
              <a:buSzPts val="3200"/>
              <a:buNone/>
            </a:pPr>
            <a:endParaRPr dirty="0" lang="en-US" smtClean="0"/>
          </a:p>
          <a:p>
            <a:pPr indent="-457200">
              <a:spcBef>
                <a:spcPts val="64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Latency Benchmarking:</a:t>
            </a:r>
            <a:r>
              <a:rPr dirty="0" lang="en-US"/>
              <a:t> Measured end-to-end data flow (Sensor → Cloud → App); achieved an average response time of </a:t>
            </a:r>
            <a:r>
              <a:rPr b="1" dirty="0" lang="en-US"/>
              <a:t>12–15 seconds</a:t>
            </a:r>
            <a:r>
              <a:rPr dirty="0" lang="en-US"/>
              <a:t>.</a:t>
            </a:r>
            <a:endParaRPr dirty="0"/>
          </a:p>
        </p:txBody>
      </p:sp>
    </p:spTree>
  </p:cSld>
  <p:clrMapOvr>
    <a:masterClrMapping/>
  </p:clrMapOvr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Testing &amp; Evaluation Summary</a:t>
            </a:r>
            <a:endParaRPr dirty="0"/>
          </a:p>
        </p:txBody>
      </p:sp>
      <p:sp>
        <p:nvSpPr>
          <p:cNvPr id="1048728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0" marL="0">
              <a:spcBef>
                <a:spcPts val="640"/>
              </a:spcBef>
              <a:buSzPts val="3200"/>
              <a:buNone/>
            </a:pPr>
            <a:r>
              <a:rPr b="1" dirty="0" lang="en-US" smtClean="0"/>
              <a:t>2. User </a:t>
            </a:r>
            <a:r>
              <a:rPr b="1" dirty="0" lang="en-US"/>
              <a:t>Acceptance &amp; App Testing</a:t>
            </a:r>
            <a:r>
              <a:rPr b="1" dirty="0" lang="en-US" smtClean="0"/>
              <a:t>:</a:t>
            </a:r>
            <a:endParaRPr dirty="0" lang="en-US"/>
          </a:p>
          <a:p>
            <a:pPr indent="-457200">
              <a:spcBef>
                <a:spcPts val="64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Unit Testing:</a:t>
            </a:r>
            <a:r>
              <a:rPr dirty="0" lang="en-US"/>
              <a:t> Verified core functions like User Authentication and Real-time Data Fetching</a:t>
            </a:r>
            <a:r>
              <a:rPr dirty="0" lang="en-US" smtClean="0"/>
              <a:t>.</a:t>
            </a:r>
          </a:p>
          <a:p>
            <a:pPr indent="-457200">
              <a:spcBef>
                <a:spcPts val="64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 smtClean="0"/>
              <a:t>UI/UX Evaluation</a:t>
            </a:r>
            <a:r>
              <a:rPr dirty="0" lang="en-US" smtClean="0"/>
              <a:t>: Ensured seamless navigation and readable results on React Native dashboard</a:t>
            </a:r>
          </a:p>
          <a:p>
            <a:pPr indent="-457200">
              <a:spcBef>
                <a:spcPts val="64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Data Reliability:</a:t>
            </a:r>
            <a:r>
              <a:rPr dirty="0" lang="en-US"/>
              <a:t> Cross-verified Firebase real-time sync with AWS Lambda trigger events.</a:t>
            </a:r>
          </a:p>
        </p:txBody>
      </p:sp>
    </p:spTree>
  </p:cSld>
  <p:clrMapOvr>
    <a:masterClrMapping/>
  </p:clrMapOvr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181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CONCLUSION AND OUTLOOK</a:t>
            </a:r>
            <a:endParaRPr dirty="0"/>
          </a:p>
        </p:txBody>
      </p:sp>
    </p:spTree>
  </p:cSld>
  <p:clrMapOvr>
    <a:masterClrMapping/>
  </p:clrMapOvr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lvl="0"/>
            <a:r>
              <a:rPr dirty="0" lang="en-US" smtClean="0"/>
              <a:t>Conclusion</a:t>
            </a:r>
            <a:endParaRPr dirty="0"/>
          </a:p>
        </p:txBody>
      </p:sp>
      <p:sp>
        <p:nvSpPr>
          <p:cNvPr id="1048735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Successfully developed</a:t>
            </a:r>
            <a:r>
              <a:rPr dirty="0" lang="en-US"/>
              <a:t> a non-invasive, </a:t>
            </a:r>
            <a:r>
              <a:rPr dirty="0" lang="en-US" err="1" smtClean="0"/>
              <a:t>IoT</a:t>
            </a:r>
            <a:r>
              <a:rPr dirty="0" lang="en-US" smtClean="0"/>
              <a:t>-based </a:t>
            </a:r>
            <a:r>
              <a:rPr dirty="0" lang="en-US"/>
              <a:t>electrolyte detection system</a:t>
            </a:r>
            <a:r>
              <a:rPr dirty="0" lang="en-US" smtClean="0"/>
              <a:t>.</a:t>
            </a:r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81% Accuracy</a:t>
            </a:r>
            <a:r>
              <a:rPr dirty="0" lang="en-US"/>
              <a:t> achieved in detecting Potassium, Calcium, and Magnesium levels</a:t>
            </a:r>
            <a:r>
              <a:rPr dirty="0" lang="en-US" smtClean="0"/>
              <a:t>.</a:t>
            </a:r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 smtClean="0"/>
              <a:t>Real Time Monitoring </a:t>
            </a:r>
            <a:r>
              <a:rPr dirty="0" lang="en-US" smtClean="0"/>
              <a:t>provided via user friendly mobile app</a:t>
            </a:r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Needle-free solution</a:t>
            </a:r>
            <a:r>
              <a:rPr dirty="0" lang="en-US"/>
              <a:t> offers a faster alternative to traditional blood tests.</a:t>
            </a:r>
            <a:endParaRPr dirty="0" lang="en-US" smtClean="0"/>
          </a:p>
          <a:p>
            <a:pPr indent="0" marL="203200">
              <a:spcBef>
                <a:spcPts val="0"/>
              </a:spcBef>
              <a:buSzPts val="3200"/>
              <a:buNone/>
            </a:pPr>
            <a:endParaRPr dirty="0"/>
          </a:p>
        </p:txBody>
      </p:sp>
    </p:spTree>
  </p:cSld>
  <p:clrMapOvr>
    <a:masterClrMapping/>
  </p:clrMapOvr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Outlook</a:t>
            </a:r>
          </a:p>
        </p:txBody>
      </p:sp>
      <p:sp>
        <p:nvSpPr>
          <p:cNvPr id="1048739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Model Optimization:</a:t>
            </a:r>
            <a:r>
              <a:rPr dirty="0" lang="en-US"/>
              <a:t> Enhance accuracy beyond 81% using larger clinical datasets</a:t>
            </a:r>
            <a:r>
              <a:rPr dirty="0" lang="en-US" smtClean="0"/>
              <a:t>.</a:t>
            </a:r>
          </a:p>
          <a:p>
            <a:pPr indent="0" marL="203200">
              <a:spcBef>
                <a:spcPts val="0"/>
              </a:spcBef>
              <a:buSzPts val="3200"/>
              <a:buNone/>
            </a:pPr>
            <a:endParaRPr dirty="0" lang="en-US" smtClean="0"/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/>
              <a:t>Smart Alerts:</a:t>
            </a:r>
            <a:r>
              <a:rPr dirty="0" lang="en-US"/>
              <a:t> Integration of emergency SMS/Call notifications for critical levels</a:t>
            </a:r>
            <a:r>
              <a:rPr dirty="0" lang="en-US" smtClean="0"/>
              <a:t>.</a:t>
            </a:r>
          </a:p>
          <a:p>
            <a:pPr indent="0" marL="203200">
              <a:spcBef>
                <a:spcPts val="0"/>
              </a:spcBef>
              <a:buSzPts val="3200"/>
              <a:buNone/>
            </a:pPr>
            <a:endParaRPr dirty="0" lang="en-US" smtClean="0"/>
          </a:p>
          <a:p>
            <a:pPr indent="-457200" marL="660400"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b="1" dirty="0" lang="en-US" smtClean="0"/>
              <a:t>Hardware Upgrade</a:t>
            </a:r>
            <a:r>
              <a:rPr dirty="0" lang="en-US" smtClean="0"/>
              <a:t>: Incorporate higher-resolution medical sensors </a:t>
            </a: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Final Year Project</dc:title>
  <dc:creator>Khan</dc:creator>
  <cp:lastModifiedBy>Lenovo</cp:lastModifiedBy>
  <dcterms:created xsi:type="dcterms:W3CDTF">2013-01-21T21:04:00Z</dcterms:created>
  <dcterms:modified xsi:type="dcterms:W3CDTF">2026-05-07T06:46:19Z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1c5472f5800e4b9186656cdb9d54b3ec</vt:lpwstr>
  </property>
</Properties>
</file>